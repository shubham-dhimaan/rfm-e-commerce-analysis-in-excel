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61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0" d="100"/>
          <a:sy n="70" d="100"/>
        </p:scale>
        <p:origin x="1138" y="52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hubh\Desktop\RFM%20&amp;%20E-commerce%20Analysis%20Project\final_rfm_projec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hubh\Desktop\RFM%20&amp;%20E-commerce%20Analysis%20Project\final_rfm_proje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hubh\Desktop\RFM%20&amp;%20E-commerce%20Analysis%20Project\final_rfm_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hubh\Desktop\RFM%20&amp;%20E-commerce%20Analysis%20Project\final_rfm_projec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hubh\Desktop\RFM%20&amp;%20E-commerce%20Analysis%20Project\final_rfm_project.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[final_rfm_project.xlsx]rfm_analysis!PivotTable1</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baseline="0" dirty="0">
                <a:solidFill>
                  <a:srgbClr val="23263B"/>
                </a:solidFill>
                <a:latin typeface="Calibri"/>
              </a:rPr>
              <a:t>Share of Customers vs. Share of Revenue by Segment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rfm_analysis!$C$4</c:f>
              <c:strCache>
                <c:ptCount val="1"/>
                <c:pt idx="0">
                  <c:v>Share of 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rfm_analysis!$B$5:$B$8</c:f>
              <c:strCache>
                <c:ptCount val="4"/>
                <c:pt idx="0">
                  <c:v>At Risk</c:v>
                </c:pt>
                <c:pt idx="1">
                  <c:v>Champions</c:v>
                </c:pt>
                <c:pt idx="2">
                  <c:v>Potential Customers</c:v>
                </c:pt>
                <c:pt idx="3">
                  <c:v>Not segmented</c:v>
                </c:pt>
              </c:strCache>
            </c:strRef>
          </c:cat>
          <c:val>
            <c:numRef>
              <c:f>rfm_analysis!$C$5:$C$8</c:f>
              <c:numCache>
                <c:formatCode>0.00%</c:formatCode>
                <c:ptCount val="4"/>
                <c:pt idx="0">
                  <c:v>1.1232455881374736E-2</c:v>
                </c:pt>
                <c:pt idx="1">
                  <c:v>0.42063223729697424</c:v>
                </c:pt>
                <c:pt idx="2">
                  <c:v>4.8346935908133246E-3</c:v>
                </c:pt>
                <c:pt idx="3">
                  <c:v>0.56330061323071834</c:v>
                </c:pt>
              </c:numCache>
            </c:numRef>
          </c:val>
          <c:extLst>
            <c:ext xmlns:c16="http://schemas.microsoft.com/office/drawing/2014/chart" uri="{C3380CC4-5D6E-409C-BE32-E72D297353CC}">
              <c16:uniqueId val="{00000000-6EE0-4799-B69A-2B32C70E40AF}"/>
            </c:ext>
          </c:extLst>
        </c:ser>
        <c:ser>
          <c:idx val="1"/>
          <c:order val="1"/>
          <c:tx>
            <c:strRef>
              <c:f>rfm_analysis!$D$4</c:f>
              <c:strCache>
                <c:ptCount val="1"/>
                <c:pt idx="0">
                  <c:v>Share of Customers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rfm_analysis!$B$5:$B$8</c:f>
              <c:strCache>
                <c:ptCount val="4"/>
                <c:pt idx="0">
                  <c:v>At Risk</c:v>
                </c:pt>
                <c:pt idx="1">
                  <c:v>Champions</c:v>
                </c:pt>
                <c:pt idx="2">
                  <c:v>Potential Customers</c:v>
                </c:pt>
                <c:pt idx="3">
                  <c:v>Not segmented</c:v>
                </c:pt>
              </c:strCache>
            </c:strRef>
          </c:cat>
          <c:val>
            <c:numRef>
              <c:f>rfm_analysis!$D$5:$D$8</c:f>
              <c:numCache>
                <c:formatCode>0.00%</c:formatCode>
                <c:ptCount val="4"/>
                <c:pt idx="0">
                  <c:v>7.1760236386661036E-3</c:v>
                </c:pt>
                <c:pt idx="1">
                  <c:v>8.21021528070916E-2</c:v>
                </c:pt>
                <c:pt idx="2">
                  <c:v>4.5377796538623894E-2</c:v>
                </c:pt>
                <c:pt idx="3">
                  <c:v>0.86534402701561841</c:v>
                </c:pt>
              </c:numCache>
            </c:numRef>
          </c:val>
          <c:extLst>
            <c:ext xmlns:c16="http://schemas.microsoft.com/office/drawing/2014/chart" uri="{C3380CC4-5D6E-409C-BE32-E72D297353CC}">
              <c16:uniqueId val="{00000001-6EE0-4799-B69A-2B32C70E40AF}"/>
            </c:ext>
          </c:extLst>
        </c:ser>
        <c:dLbls>
          <c:dLblPos val="outEnd"/>
          <c:showLegendKey val="0"/>
          <c:showVal val="1"/>
          <c:showCatName val="0"/>
          <c:showSerName val="0"/>
          <c:showPercent val="0"/>
          <c:showBubbleSize val="0"/>
        </c:dLbls>
        <c:gapWidth val="219"/>
        <c:overlap val="-27"/>
        <c:axId val="1670258576"/>
        <c:axId val="1604859696"/>
      </c:barChart>
      <c:catAx>
        <c:axId val="167025857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Customer Segments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04859696"/>
        <c:crosses val="autoZero"/>
        <c:auto val="1"/>
        <c:lblAlgn val="ctr"/>
        <c:lblOffset val="100"/>
        <c:noMultiLvlLbl val="0"/>
      </c:catAx>
      <c:valAx>
        <c:axId val="16048596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 </a:t>
                </a:r>
                <a:r>
                  <a:rPr lang="en-US" baseline="0"/>
                  <a:t> Share in Total Revenue</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702585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[final_rfm_project.xlsx]trend_analysis!PivotTable7</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Revenue by Month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trend_analysis!$C$69</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movingAvg"/>
            <c:period val="2"/>
            <c:dispRSqr val="0"/>
            <c:dispEq val="0"/>
          </c:trendline>
          <c:cat>
            <c:strRef>
              <c:f>trend_analysis!$B$70:$B$82</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trend_analysis!$C$70:$C$82</c:f>
              <c:numCache>
                <c:formatCode>\£#.00,,"M"</c:formatCode>
                <c:ptCount val="12"/>
                <c:pt idx="0">
                  <c:v>3778534.2900000745</c:v>
                </c:pt>
                <c:pt idx="1">
                  <c:v>3362729.6600000807</c:v>
                </c:pt>
                <c:pt idx="2">
                  <c:v>4429690.2800000953</c:v>
                </c:pt>
                <c:pt idx="3">
                  <c:v>3752631.2200000696</c:v>
                </c:pt>
                <c:pt idx="4">
                  <c:v>4618038.7500000307</c:v>
                </c:pt>
                <c:pt idx="5">
                  <c:v>4570402.7500000075</c:v>
                </c:pt>
                <c:pt idx="6">
                  <c:v>4647001.7700000145</c:v>
                </c:pt>
                <c:pt idx="7">
                  <c:v>4893900.4299999513</c:v>
                </c:pt>
                <c:pt idx="8">
                  <c:v>6698289.1300000278</c:v>
                </c:pt>
                <c:pt idx="9">
                  <c:v>7459560.3700001184</c:v>
                </c:pt>
                <c:pt idx="10">
                  <c:v>7944142.7500000065</c:v>
                </c:pt>
                <c:pt idx="11">
                  <c:v>6106788.540000027</c:v>
                </c:pt>
              </c:numCache>
            </c:numRef>
          </c:val>
          <c:extLst>
            <c:ext xmlns:c16="http://schemas.microsoft.com/office/drawing/2014/chart" uri="{C3380CC4-5D6E-409C-BE32-E72D297353CC}">
              <c16:uniqueId val="{00000001-33B4-427D-BC1F-C67B42B56B39}"/>
            </c:ext>
          </c:extLst>
        </c:ser>
        <c:dLbls>
          <c:dLblPos val="outEnd"/>
          <c:showLegendKey val="0"/>
          <c:showVal val="1"/>
          <c:showCatName val="0"/>
          <c:showSerName val="0"/>
          <c:showPercent val="0"/>
          <c:showBubbleSize val="0"/>
        </c:dLbls>
        <c:gapWidth val="219"/>
        <c:overlap val="-27"/>
        <c:axId val="456543759"/>
        <c:axId val="470016495"/>
      </c:barChart>
      <c:catAx>
        <c:axId val="456543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0016495"/>
        <c:crosses val="autoZero"/>
        <c:auto val="1"/>
        <c:lblAlgn val="ctr"/>
        <c:lblOffset val="100"/>
        <c:noMultiLvlLbl val="0"/>
      </c:catAx>
      <c:valAx>
        <c:axId val="470016495"/>
        <c:scaling>
          <c:orientation val="minMax"/>
        </c:scaling>
        <c:delete val="0"/>
        <c:axPos val="l"/>
        <c:majorGridlines>
          <c:spPr>
            <a:ln w="9525" cap="flat" cmpd="sng" algn="ctr">
              <a:solidFill>
                <a:schemeClr val="tx1">
                  <a:lumMod val="15000"/>
                  <a:lumOff val="85000"/>
                </a:schemeClr>
              </a:solidFill>
              <a:round/>
            </a:ln>
            <a:effectLst/>
          </c:spPr>
        </c:majorGridlines>
        <c:numFmt formatCode="\£#.00,,&quot;M&quot;"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65437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[final_rfm_project.xlsx]product_analysis!PivotTable1</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 10 Products</a:t>
            </a:r>
            <a:r>
              <a:rPr lang="en-US" baseline="0"/>
              <a:t> by Total Revenue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product_analysis!$C$4</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product_analysis!$B$5:$B$15</c:f>
              <c:strCache>
                <c:ptCount val="10"/>
                <c:pt idx="0">
                  <c:v>Popcorn Holder</c:v>
                </c:pt>
                <c:pt idx="1">
                  <c:v>World War 2 Gliders Asstd Designs</c:v>
                </c:pt>
                <c:pt idx="2">
                  <c:v>Cream Hanging Heart T-Light Holder</c:v>
                </c:pt>
                <c:pt idx="3">
                  <c:v>Assorted Colour Bird Ornament</c:v>
                </c:pt>
                <c:pt idx="4">
                  <c:v>Pack Of 72 Retrospot Cake Cases</c:v>
                </c:pt>
                <c:pt idx="5">
                  <c:v>Rabbit Night Light</c:v>
                </c:pt>
                <c:pt idx="6">
                  <c:v>Regency Cakestand 3 Tier</c:v>
                </c:pt>
                <c:pt idx="7">
                  <c:v>Jumbo Bag Red Retrospot</c:v>
                </c:pt>
                <c:pt idx="8">
                  <c:v>Party Bunting</c:v>
                </c:pt>
                <c:pt idx="9">
                  <c:v>Mini Paint Set Vintage</c:v>
                </c:pt>
              </c:strCache>
            </c:strRef>
          </c:cat>
          <c:val>
            <c:numRef>
              <c:f>product_analysis!$C$5:$C$15</c:f>
              <c:numCache>
                <c:formatCode>[$£-809]#,##0</c:formatCode>
                <c:ptCount val="10"/>
                <c:pt idx="0">
                  <c:v>591370.08999999764</c:v>
                </c:pt>
                <c:pt idx="1">
                  <c:v>581287.55000000156</c:v>
                </c:pt>
                <c:pt idx="2">
                  <c:v>517545.70999999449</c:v>
                </c:pt>
                <c:pt idx="3">
                  <c:v>420707.76000000298</c:v>
                </c:pt>
                <c:pt idx="4">
                  <c:v>394301.49999999977</c:v>
                </c:pt>
                <c:pt idx="5">
                  <c:v>329765.19000000163</c:v>
                </c:pt>
                <c:pt idx="6">
                  <c:v>325049.55000000622</c:v>
                </c:pt>
                <c:pt idx="7">
                  <c:v>303314.98999999603</c:v>
                </c:pt>
                <c:pt idx="8">
                  <c:v>290289.48999999947</c:v>
                </c:pt>
                <c:pt idx="9">
                  <c:v>289132.39999999915</c:v>
                </c:pt>
              </c:numCache>
            </c:numRef>
          </c:val>
          <c:extLst>
            <c:ext xmlns:c16="http://schemas.microsoft.com/office/drawing/2014/chart" uri="{C3380CC4-5D6E-409C-BE32-E72D297353CC}">
              <c16:uniqueId val="{00000000-3A49-422C-98C5-572F3BAF8180}"/>
            </c:ext>
          </c:extLst>
        </c:ser>
        <c:dLbls>
          <c:dLblPos val="outEnd"/>
          <c:showLegendKey val="0"/>
          <c:showVal val="1"/>
          <c:showCatName val="0"/>
          <c:showSerName val="0"/>
          <c:showPercent val="0"/>
          <c:showBubbleSize val="0"/>
        </c:dLbls>
        <c:gapWidth val="219"/>
        <c:overlap val="-27"/>
        <c:axId val="2033188175"/>
        <c:axId val="70140112"/>
      </c:barChart>
      <c:catAx>
        <c:axId val="203318817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140112"/>
        <c:crosses val="autoZero"/>
        <c:auto val="1"/>
        <c:lblAlgn val="ctr"/>
        <c:lblOffset val="100"/>
        <c:noMultiLvlLbl val="0"/>
      </c:catAx>
      <c:valAx>
        <c:axId val="701401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 Revenue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809]#,##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3188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[final_rfm_project.xlsx]product_analysis!PivotTable2</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a:t>
            </a:r>
            <a:r>
              <a:rPr lang="en-US" baseline="0"/>
              <a:t> 5 Products by Total Quantity Sold</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product_analysis!$C$29</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product_analysis!$B$30:$B$35</c:f>
              <c:strCache>
                <c:ptCount val="5"/>
                <c:pt idx="0">
                  <c:v>Popcorn Holder</c:v>
                </c:pt>
                <c:pt idx="1">
                  <c:v>World War 2 Gliders Asstd Designs</c:v>
                </c:pt>
                <c:pt idx="2">
                  <c:v>Jumbo Bag Red Retrospot</c:v>
                </c:pt>
                <c:pt idx="3">
                  <c:v>Cream Hanging Heart T-Light Holder</c:v>
                </c:pt>
                <c:pt idx="4">
                  <c:v>Pack Of 72 Retrospot Cake Cases</c:v>
                </c:pt>
              </c:strCache>
            </c:strRef>
          </c:cat>
          <c:val>
            <c:numRef>
              <c:f>product_analysis!$C$30:$C$35</c:f>
              <c:numCache>
                <c:formatCode>_(* #,##0_);_(* \(#,##0\);_(* "-"??_);_(@_)</c:formatCode>
                <c:ptCount val="5"/>
                <c:pt idx="0">
                  <c:v>57373</c:v>
                </c:pt>
                <c:pt idx="1">
                  <c:v>56151</c:v>
                </c:pt>
                <c:pt idx="2">
                  <c:v>49490</c:v>
                </c:pt>
                <c:pt idx="3">
                  <c:v>40515</c:v>
                </c:pt>
                <c:pt idx="4">
                  <c:v>36776</c:v>
                </c:pt>
              </c:numCache>
            </c:numRef>
          </c:val>
          <c:extLst>
            <c:ext xmlns:c16="http://schemas.microsoft.com/office/drawing/2014/chart" uri="{C3380CC4-5D6E-409C-BE32-E72D297353CC}">
              <c16:uniqueId val="{00000000-F0F5-4F52-9F11-4CA17C8FFAD1}"/>
            </c:ext>
          </c:extLst>
        </c:ser>
        <c:dLbls>
          <c:dLblPos val="outEnd"/>
          <c:showLegendKey val="0"/>
          <c:showVal val="1"/>
          <c:showCatName val="0"/>
          <c:showSerName val="0"/>
          <c:showPercent val="0"/>
          <c:showBubbleSize val="0"/>
        </c:dLbls>
        <c:gapWidth val="219"/>
        <c:overlap val="-27"/>
        <c:axId val="2139090175"/>
        <c:axId val="70088272"/>
      </c:barChart>
      <c:catAx>
        <c:axId val="2139090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088272"/>
        <c:crosses val="autoZero"/>
        <c:auto val="1"/>
        <c:lblAlgn val="ctr"/>
        <c:lblOffset val="100"/>
        <c:noMultiLvlLbl val="0"/>
      </c:catAx>
      <c:valAx>
        <c:axId val="700882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Units Sold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390901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[final_rfm_project.xlsx]price_analysis!PivotTable3</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Product Price</a:t>
            </a:r>
            <a:r>
              <a:rPr lang="en-US" baseline="0"/>
              <a:t> Categories vs Total Revenue Share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price_analysis!$C$15</c:f>
              <c:strCache>
                <c:ptCount val="1"/>
                <c:pt idx="0">
                  <c:v>Total Revenue</c:v>
                </c:pt>
              </c:strCache>
            </c:strRef>
          </c:tx>
          <c:spPr>
            <a:solidFill>
              <a:schemeClr val="accent1"/>
            </a:solidFill>
            <a:ln>
              <a:noFill/>
            </a:ln>
            <a:effectLst/>
          </c:spPr>
          <c:cat>
            <c:strRef>
              <c:f>price_analysis!$B$16:$B$20</c:f>
              <c:strCache>
                <c:ptCount val="5"/>
                <c:pt idx="0">
                  <c:v>Low-priced (£0–£10)</c:v>
                </c:pt>
                <c:pt idx="1">
                  <c:v>Standard-priced (£10–£15)</c:v>
                </c:pt>
                <c:pt idx="2">
                  <c:v>Premium-priced (£15–£30)</c:v>
                </c:pt>
                <c:pt idx="3">
                  <c:v>High-priced (£30–£100)</c:v>
                </c:pt>
                <c:pt idx="4">
                  <c:v>Very high-priced (£100+)</c:v>
                </c:pt>
              </c:strCache>
            </c:strRef>
          </c:cat>
          <c:val>
            <c:numRef>
              <c:f>price_analysis!$C$16:$C$20</c:f>
              <c:numCache>
                <c:formatCode>[$£-809]#,##0;\-[$£-809]#,##0</c:formatCode>
                <c:ptCount val="5"/>
                <c:pt idx="0">
                  <c:v>5216538.9500015434</c:v>
                </c:pt>
                <c:pt idx="1">
                  <c:v>50741582.649982505</c:v>
                </c:pt>
                <c:pt idx="2">
                  <c:v>6031595.8999984637</c:v>
                </c:pt>
                <c:pt idx="3">
                  <c:v>193810.30000000162</c:v>
                </c:pt>
                <c:pt idx="4">
                  <c:v>78182.140000000058</c:v>
                </c:pt>
              </c:numCache>
            </c:numRef>
          </c:val>
          <c:extLst>
            <c:ext xmlns:c16="http://schemas.microsoft.com/office/drawing/2014/chart" uri="{C3380CC4-5D6E-409C-BE32-E72D297353CC}">
              <c16:uniqueId val="{00000000-87E0-422E-82BB-42939C50A79F}"/>
            </c:ext>
          </c:extLst>
        </c:ser>
        <c:ser>
          <c:idx val="1"/>
          <c:order val="1"/>
          <c:tx>
            <c:strRef>
              <c:f>price_analysis!$D$15</c:f>
              <c:strCache>
                <c:ptCount val="1"/>
                <c:pt idx="0">
                  <c:v>% Share in Total Revenue</c:v>
                </c:pt>
              </c:strCache>
            </c:strRef>
          </c:tx>
          <c:spPr>
            <a:solidFill>
              <a:schemeClr val="accent2"/>
            </a:solidFill>
            <a:ln>
              <a:noFill/>
            </a:ln>
            <a:effectLst/>
          </c:spPr>
          <c:cat>
            <c:strRef>
              <c:f>price_analysis!$B$16:$B$20</c:f>
              <c:strCache>
                <c:ptCount val="5"/>
                <c:pt idx="0">
                  <c:v>Low-priced (£0–£10)</c:v>
                </c:pt>
                <c:pt idx="1">
                  <c:v>Standard-priced (£10–£15)</c:v>
                </c:pt>
                <c:pt idx="2">
                  <c:v>Premium-priced (£15–£30)</c:v>
                </c:pt>
                <c:pt idx="3">
                  <c:v>High-priced (£30–£100)</c:v>
                </c:pt>
                <c:pt idx="4">
                  <c:v>Very high-priced (£100+)</c:v>
                </c:pt>
              </c:strCache>
            </c:strRef>
          </c:cat>
          <c:val>
            <c:numRef>
              <c:f>price_analysis!$D$16:$D$20</c:f>
              <c:numCache>
                <c:formatCode>0.00%</c:formatCode>
                <c:ptCount val="5"/>
                <c:pt idx="0">
                  <c:v>8.3784061745630342E-2</c:v>
                </c:pt>
                <c:pt idx="1">
                  <c:v>0.8149725200107788</c:v>
                </c:pt>
                <c:pt idx="2">
                  <c:v>9.6874883548988475E-2</c:v>
                </c:pt>
                <c:pt idx="3">
                  <c:v>3.1128329142705766E-3</c:v>
                </c:pt>
                <c:pt idx="4">
                  <c:v>1.2557017800401131E-3</c:v>
                </c:pt>
              </c:numCache>
            </c:numRef>
          </c:val>
          <c:extLst>
            <c:ext xmlns:c16="http://schemas.microsoft.com/office/drawing/2014/chart" uri="{C3380CC4-5D6E-409C-BE32-E72D297353CC}">
              <c16:uniqueId val="{00000001-87E0-422E-82BB-42939C50A79F}"/>
            </c:ext>
          </c:extLst>
        </c:ser>
        <c:dLbls>
          <c:showLegendKey val="0"/>
          <c:showVal val="0"/>
          <c:showCatName val="0"/>
          <c:showSerName val="0"/>
          <c:showPercent val="0"/>
          <c:showBubbleSize val="0"/>
        </c:dLbls>
        <c:axId val="1124699696"/>
        <c:axId val="952094800"/>
      </c:areaChart>
      <c:catAx>
        <c:axId val="11246996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Product Price Categories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2094800"/>
        <c:crosses val="autoZero"/>
        <c:auto val="1"/>
        <c:lblAlgn val="ctr"/>
        <c:lblOffset val="100"/>
        <c:noMultiLvlLbl val="0"/>
      </c:catAx>
      <c:valAx>
        <c:axId val="9520948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 Revenue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809]#,##0;\-[$£-809]#,##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4699696"/>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275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datasets/gabrielramos87/an-online-shop-business?resource=download"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github.com/shubham-dhimaan/RFM-E-commerce-Analysis-in-Excel/blob/main/final_rfm_project.xlsx"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github.com/shubham-dhimaan/RFM-E-commerce-Analysis-in-Excel/blob/main/final_rfm_project.xlsx"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85C"/>
        </a:solidFill>
        <a:effectLst/>
      </p:bgPr>
    </p:bg>
    <p:spTree>
      <p:nvGrpSpPr>
        <p:cNvPr id="1" name=""/>
        <p:cNvGrpSpPr/>
        <p:nvPr/>
      </p:nvGrpSpPr>
      <p:grpSpPr>
        <a:xfrm>
          <a:off x="0" y="0"/>
          <a:ext cx="0" cy="0"/>
          <a:chOff x="0" y="0"/>
          <a:chExt cx="0" cy="0"/>
        </a:xfrm>
      </p:grpSpPr>
      <p:sp>
        <p:nvSpPr>
          <p:cNvPr id="2" name="Shape 0"/>
          <p:cNvSpPr/>
          <p:nvPr/>
        </p:nvSpPr>
        <p:spPr>
          <a:xfrm>
            <a:off x="9966960" y="-1097280"/>
            <a:ext cx="3108960" cy="3108960"/>
          </a:xfrm>
          <a:prstGeom prst="ellipse">
            <a:avLst/>
          </a:prstGeom>
          <a:solidFill>
            <a:srgbClr val="273071"/>
          </a:solidFill>
          <a:ln/>
        </p:spPr>
      </p:sp>
      <p:sp>
        <p:nvSpPr>
          <p:cNvPr id="3" name="Shape 1"/>
          <p:cNvSpPr/>
          <p:nvPr/>
        </p:nvSpPr>
        <p:spPr>
          <a:xfrm>
            <a:off x="11064240" y="182880"/>
            <a:ext cx="1463040" cy="1463040"/>
          </a:xfrm>
          <a:prstGeom prst="ellipse">
            <a:avLst/>
          </a:prstGeom>
          <a:solidFill>
            <a:srgbClr val="394299"/>
          </a:solidFill>
          <a:ln/>
        </p:spPr>
      </p:sp>
      <p:sp>
        <p:nvSpPr>
          <p:cNvPr id="4" name="Text 2"/>
          <p:cNvSpPr txBox="1"/>
          <p:nvPr/>
        </p:nvSpPr>
        <p:spPr>
          <a:xfrm>
            <a:off x="822960" y="1417320"/>
            <a:ext cx="9144000" cy="320040"/>
          </a:xfrm>
          <a:prstGeom prst="rect">
            <a:avLst/>
          </a:prstGeom>
          <a:noFill/>
          <a:ln/>
        </p:spPr>
        <p:txBody>
          <a:bodyPr wrap="square" lIns="0" tIns="0" rIns="0" bIns="0" rtlCol="0" anchor="ctr"/>
          <a:lstStyle/>
          <a:p>
            <a:pPr marL="0" indent="0">
              <a:buNone/>
            </a:pPr>
            <a:r>
              <a:rPr lang="en-US" sz="1300" b="1" kern="0" spc="200" dirty="0">
                <a:solidFill>
                  <a:srgbClr val="F9E795"/>
                </a:solidFill>
                <a:latin typeface="Calibri" pitchFamily="34" charset="0"/>
                <a:ea typeface="Calibri" pitchFamily="34" charset="-122"/>
                <a:cs typeface="Calibri" pitchFamily="34" charset="-120"/>
              </a:rPr>
              <a:t>PORTFOLIO PROJECT  • E-COMMERCE ANALYSIS</a:t>
            </a:r>
            <a:endParaRPr lang="en-US" sz="1300" dirty="0"/>
          </a:p>
        </p:txBody>
      </p:sp>
      <p:sp>
        <p:nvSpPr>
          <p:cNvPr id="5" name="Text 3"/>
          <p:cNvSpPr txBox="1"/>
          <p:nvPr/>
        </p:nvSpPr>
        <p:spPr>
          <a:xfrm>
            <a:off x="777240" y="1828800"/>
            <a:ext cx="10515600" cy="1188720"/>
          </a:xfrm>
          <a:prstGeom prst="rect">
            <a:avLst/>
          </a:prstGeom>
          <a:noFill/>
          <a:ln/>
        </p:spPr>
        <p:txBody>
          <a:bodyPr wrap="square" lIns="0" tIns="0" rIns="0" bIns="0" rtlCol="0" anchor="ctr"/>
          <a:lstStyle/>
          <a:p>
            <a:pPr marL="0" indent="0" algn="ctr">
              <a:buNone/>
            </a:pPr>
            <a:r>
              <a:rPr lang="en-US" sz="5000" b="1" dirty="0">
                <a:solidFill>
                  <a:srgbClr val="FFFFFF"/>
                </a:solidFill>
                <a:latin typeface="Cambria" pitchFamily="34" charset="0"/>
                <a:ea typeface="Cambria" pitchFamily="34" charset="-122"/>
                <a:cs typeface="Cambria" pitchFamily="34" charset="-120"/>
              </a:rPr>
              <a:t>Beyond the Dashboard</a:t>
            </a:r>
            <a:endParaRPr lang="en-US" sz="5000" dirty="0"/>
          </a:p>
        </p:txBody>
      </p:sp>
      <p:sp>
        <p:nvSpPr>
          <p:cNvPr id="6" name="Text 4"/>
          <p:cNvSpPr txBox="1"/>
          <p:nvPr/>
        </p:nvSpPr>
        <p:spPr>
          <a:xfrm>
            <a:off x="822960" y="2880360"/>
            <a:ext cx="10058400" cy="594360"/>
          </a:xfrm>
          <a:prstGeom prst="rect">
            <a:avLst/>
          </a:prstGeom>
          <a:noFill/>
          <a:ln/>
        </p:spPr>
        <p:txBody>
          <a:bodyPr wrap="square" lIns="0" tIns="0" rIns="0" bIns="0" rtlCol="0" anchor="ctr"/>
          <a:lstStyle/>
          <a:p>
            <a:pPr marL="0" indent="0" algn="ctr">
              <a:buNone/>
            </a:pPr>
            <a:r>
              <a:rPr lang="en-US" sz="2400" b="1" dirty="0">
                <a:solidFill>
                  <a:srgbClr val="F96167"/>
                </a:solidFill>
                <a:latin typeface="Cambria" pitchFamily="34" charset="0"/>
                <a:ea typeface="Cambria" pitchFamily="34" charset="-122"/>
                <a:cs typeface="Cambria" pitchFamily="34" charset="-120"/>
              </a:rPr>
              <a:t>RFM Segmentation Tool With Excel</a:t>
            </a:r>
            <a:endParaRPr lang="en-US" sz="2400" b="1" dirty="0"/>
          </a:p>
        </p:txBody>
      </p:sp>
      <p:sp>
        <p:nvSpPr>
          <p:cNvPr id="8" name="Shape 6"/>
          <p:cNvSpPr/>
          <p:nvPr/>
        </p:nvSpPr>
        <p:spPr>
          <a:xfrm>
            <a:off x="822960" y="4709160"/>
            <a:ext cx="873252" cy="310896"/>
          </a:xfrm>
          <a:prstGeom prst="roundRect">
            <a:avLst>
              <a:gd name="adj" fmla="val 50000"/>
            </a:avLst>
          </a:prstGeom>
          <a:solidFill>
            <a:srgbClr val="F9E795"/>
          </a:solidFill>
          <a:ln/>
        </p:spPr>
      </p:sp>
      <p:sp>
        <p:nvSpPr>
          <p:cNvPr id="9" name="Text 7"/>
          <p:cNvSpPr txBox="1"/>
          <p:nvPr/>
        </p:nvSpPr>
        <p:spPr>
          <a:xfrm>
            <a:off x="822960" y="4709160"/>
            <a:ext cx="873252" cy="310896"/>
          </a:xfrm>
          <a:prstGeom prst="rect">
            <a:avLst/>
          </a:prstGeom>
          <a:noFill/>
          <a:ln/>
        </p:spPr>
        <p:txBody>
          <a:bodyPr wrap="square" lIns="0" tIns="0" rIns="0" bIns="0" rtlCol="0" anchor="ctr"/>
          <a:lstStyle/>
          <a:p>
            <a:pPr marL="0" indent="0" algn="ctr">
              <a:buNone/>
            </a:pPr>
            <a:r>
              <a:rPr lang="en-US" sz="1200" b="1" dirty="0">
                <a:solidFill>
                  <a:srgbClr val="2F3C7E"/>
                </a:solidFill>
                <a:latin typeface="Calibri" pitchFamily="34" charset="0"/>
                <a:ea typeface="Calibri" pitchFamily="34" charset="-122"/>
                <a:cs typeface="Calibri" pitchFamily="34" charset="-120"/>
              </a:rPr>
              <a:t>Champions</a:t>
            </a:r>
            <a:endParaRPr lang="en-US" sz="1200" dirty="0"/>
          </a:p>
        </p:txBody>
      </p:sp>
      <p:sp>
        <p:nvSpPr>
          <p:cNvPr id="10" name="Shape 8"/>
          <p:cNvSpPr/>
          <p:nvPr/>
        </p:nvSpPr>
        <p:spPr>
          <a:xfrm>
            <a:off x="1860804" y="4709160"/>
            <a:ext cx="562356" cy="310896"/>
          </a:xfrm>
          <a:prstGeom prst="roundRect">
            <a:avLst>
              <a:gd name="adj" fmla="val 50000"/>
            </a:avLst>
          </a:prstGeom>
          <a:solidFill>
            <a:srgbClr val="3FA7A0"/>
          </a:solidFill>
          <a:ln/>
        </p:spPr>
      </p:sp>
      <p:sp>
        <p:nvSpPr>
          <p:cNvPr id="11" name="Text 9"/>
          <p:cNvSpPr txBox="1"/>
          <p:nvPr/>
        </p:nvSpPr>
        <p:spPr>
          <a:xfrm>
            <a:off x="1860804" y="4709160"/>
            <a:ext cx="56235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Loyal</a:t>
            </a:r>
            <a:endParaRPr lang="en-US" sz="1200" dirty="0"/>
          </a:p>
        </p:txBody>
      </p:sp>
      <p:sp>
        <p:nvSpPr>
          <p:cNvPr id="12" name="Shape 10"/>
          <p:cNvSpPr/>
          <p:nvPr/>
        </p:nvSpPr>
        <p:spPr>
          <a:xfrm>
            <a:off x="2587752" y="4709160"/>
            <a:ext cx="873252" cy="310896"/>
          </a:xfrm>
          <a:prstGeom prst="roundRect">
            <a:avLst>
              <a:gd name="adj" fmla="val 50000"/>
            </a:avLst>
          </a:prstGeom>
          <a:solidFill>
            <a:srgbClr val="2F3C7E"/>
          </a:solidFill>
          <a:ln/>
        </p:spPr>
      </p:sp>
      <p:sp>
        <p:nvSpPr>
          <p:cNvPr id="13" name="Text 11"/>
          <p:cNvSpPr txBox="1"/>
          <p:nvPr/>
        </p:nvSpPr>
        <p:spPr>
          <a:xfrm>
            <a:off x="2587752" y="4709160"/>
            <a:ext cx="87325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Potential</a:t>
            </a:r>
            <a:endParaRPr lang="en-US" sz="1200" dirty="0"/>
          </a:p>
        </p:txBody>
      </p:sp>
      <p:sp>
        <p:nvSpPr>
          <p:cNvPr id="14" name="Shape 12"/>
          <p:cNvSpPr/>
          <p:nvPr/>
        </p:nvSpPr>
        <p:spPr>
          <a:xfrm>
            <a:off x="3625596" y="4709160"/>
            <a:ext cx="717804" cy="310896"/>
          </a:xfrm>
          <a:prstGeom prst="roundRect">
            <a:avLst>
              <a:gd name="adj" fmla="val 50000"/>
            </a:avLst>
          </a:prstGeom>
          <a:solidFill>
            <a:srgbClr val="F96167"/>
          </a:solidFill>
          <a:ln/>
        </p:spPr>
      </p:sp>
      <p:sp>
        <p:nvSpPr>
          <p:cNvPr id="15" name="Text 13"/>
          <p:cNvSpPr txBox="1"/>
          <p:nvPr/>
        </p:nvSpPr>
        <p:spPr>
          <a:xfrm>
            <a:off x="3625596" y="4709160"/>
            <a:ext cx="71780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Risk</a:t>
            </a:r>
            <a:endParaRPr lang="en-US" sz="1200" dirty="0"/>
          </a:p>
        </p:txBody>
      </p:sp>
      <p:sp>
        <p:nvSpPr>
          <p:cNvPr id="16" name="Text 14"/>
          <p:cNvSpPr txBox="1"/>
          <p:nvPr/>
        </p:nvSpPr>
        <p:spPr>
          <a:xfrm>
            <a:off x="822960" y="6172200"/>
            <a:ext cx="9144000" cy="365760"/>
          </a:xfrm>
          <a:prstGeom prst="rect">
            <a:avLst/>
          </a:prstGeom>
          <a:noFill/>
          <a:ln/>
        </p:spPr>
        <p:txBody>
          <a:bodyPr wrap="square" lIns="0" tIns="0" rIns="0" bIns="0" rtlCol="0" anchor="ctr"/>
          <a:lstStyle/>
          <a:p>
            <a:pPr marL="0" indent="0">
              <a:buNone/>
            </a:pPr>
            <a:r>
              <a:rPr lang="en-US" sz="1100" dirty="0">
                <a:solidFill>
                  <a:srgbClr val="8891C4"/>
                </a:solidFill>
                <a:latin typeface="Calibri" pitchFamily="34" charset="0"/>
                <a:ea typeface="Calibri" pitchFamily="34" charset="-122"/>
                <a:cs typeface="Calibri" pitchFamily="34" charset="-120"/>
              </a:rPr>
              <a:t>Customer Segmentation  ·  Revenue Concentration  ·  Growth Signals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WHERE IT ALL COMES FROM</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The Source Dataset</a:t>
            </a:r>
            <a:endParaRPr lang="en-US" sz="3200" dirty="0"/>
          </a:p>
        </p:txBody>
      </p:sp>
      <p:sp>
        <p:nvSpPr>
          <p:cNvPr id="4" name="Text 2"/>
          <p:cNvSpPr txBox="1"/>
          <p:nvPr/>
        </p:nvSpPr>
        <p:spPr>
          <a:xfrm>
            <a:off x="548640" y="1554480"/>
            <a:ext cx="5074920" cy="1188720"/>
          </a:xfrm>
          <a:prstGeom prst="rect">
            <a:avLst/>
          </a:prstGeom>
          <a:noFill/>
          <a:ln/>
        </p:spPr>
        <p:txBody>
          <a:bodyPr wrap="square" lIns="0" tIns="0" rIns="0" bIns="0" rtlCol="0" anchor="ctr"/>
          <a:lstStyle/>
          <a:p>
            <a:pPr marL="0" indent="0">
              <a:lnSpc>
                <a:spcPct val="130000"/>
              </a:lnSpc>
              <a:buNone/>
            </a:pPr>
            <a:r>
              <a:rPr lang="en-US" sz="1350" dirty="0">
                <a:solidFill>
                  <a:srgbClr val="23263B"/>
                </a:solidFill>
                <a:latin typeface="Calibri" pitchFamily="34" charset="0"/>
                <a:ea typeface="Calibri" pitchFamily="34" charset="-122"/>
                <a:cs typeface="Calibri" pitchFamily="34" charset="-120"/>
              </a:rPr>
              <a:t>Every model, chart, and insight in this deck  (RFM segmentation, product, price, geography, and trend analysis) is built entirely from one raw transaction data file. A total of 531,147 Rows x 8 Cols. were analyzed.</a:t>
            </a:r>
            <a:endParaRPr lang="en-US" sz="1350" dirty="0"/>
          </a:p>
        </p:txBody>
      </p:sp>
      <p:sp>
        <p:nvSpPr>
          <p:cNvPr id="5" name="Shape 3"/>
          <p:cNvSpPr/>
          <p:nvPr/>
        </p:nvSpPr>
        <p:spPr>
          <a:xfrm>
            <a:off x="640080" y="2971800"/>
            <a:ext cx="91440" cy="91440"/>
          </a:xfrm>
          <a:prstGeom prst="ellipse">
            <a:avLst/>
          </a:prstGeom>
          <a:solidFill>
            <a:srgbClr val="2F3C7E"/>
          </a:solidFill>
          <a:ln/>
        </p:spPr>
      </p:sp>
      <p:sp>
        <p:nvSpPr>
          <p:cNvPr id="6" name="Text 4"/>
          <p:cNvSpPr txBox="1"/>
          <p:nvPr/>
        </p:nvSpPr>
        <p:spPr>
          <a:xfrm>
            <a:off x="896112" y="2798064"/>
            <a:ext cx="4754880" cy="38404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TransactionNo &amp; Date — order-level identifiers</a:t>
            </a:r>
            <a:endParaRPr lang="en-US" sz="1200" dirty="0"/>
          </a:p>
        </p:txBody>
      </p:sp>
      <p:sp>
        <p:nvSpPr>
          <p:cNvPr id="7" name="Shape 5"/>
          <p:cNvSpPr/>
          <p:nvPr/>
        </p:nvSpPr>
        <p:spPr>
          <a:xfrm>
            <a:off x="640080" y="3392424"/>
            <a:ext cx="91440" cy="91440"/>
          </a:xfrm>
          <a:prstGeom prst="ellipse">
            <a:avLst/>
          </a:prstGeom>
          <a:solidFill>
            <a:srgbClr val="2F3C7E"/>
          </a:solidFill>
          <a:ln/>
        </p:spPr>
      </p:sp>
      <p:sp>
        <p:nvSpPr>
          <p:cNvPr id="8" name="Text 6"/>
          <p:cNvSpPr txBox="1"/>
          <p:nvPr/>
        </p:nvSpPr>
        <p:spPr>
          <a:xfrm>
            <a:off x="896112" y="3218688"/>
            <a:ext cx="4754880" cy="38404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ProductNo &amp; ProductName — item sold</a:t>
            </a:r>
            <a:endParaRPr lang="en-US" sz="1200" dirty="0"/>
          </a:p>
        </p:txBody>
      </p:sp>
      <p:sp>
        <p:nvSpPr>
          <p:cNvPr id="9" name="Shape 7"/>
          <p:cNvSpPr/>
          <p:nvPr/>
        </p:nvSpPr>
        <p:spPr>
          <a:xfrm>
            <a:off x="640080" y="3813048"/>
            <a:ext cx="91440" cy="91440"/>
          </a:xfrm>
          <a:prstGeom prst="ellipse">
            <a:avLst/>
          </a:prstGeom>
          <a:solidFill>
            <a:srgbClr val="2F3C7E"/>
          </a:solidFill>
          <a:ln/>
        </p:spPr>
      </p:sp>
      <p:sp>
        <p:nvSpPr>
          <p:cNvPr id="10" name="Text 8"/>
          <p:cNvSpPr txBox="1"/>
          <p:nvPr/>
        </p:nvSpPr>
        <p:spPr>
          <a:xfrm>
            <a:off x="896112" y="3639312"/>
            <a:ext cx="4754880" cy="38404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Price &amp; Quantity — line-level revenue inputs</a:t>
            </a:r>
            <a:endParaRPr lang="en-US" sz="1200" dirty="0"/>
          </a:p>
        </p:txBody>
      </p:sp>
      <p:sp>
        <p:nvSpPr>
          <p:cNvPr id="11" name="Shape 9"/>
          <p:cNvSpPr/>
          <p:nvPr/>
        </p:nvSpPr>
        <p:spPr>
          <a:xfrm>
            <a:off x="640080" y="4233672"/>
            <a:ext cx="91440" cy="91440"/>
          </a:xfrm>
          <a:prstGeom prst="ellipse">
            <a:avLst/>
          </a:prstGeom>
          <a:solidFill>
            <a:srgbClr val="2F3C7E"/>
          </a:solidFill>
          <a:ln/>
        </p:spPr>
      </p:sp>
      <p:sp>
        <p:nvSpPr>
          <p:cNvPr id="12" name="Text 10"/>
          <p:cNvSpPr txBox="1"/>
          <p:nvPr/>
        </p:nvSpPr>
        <p:spPr>
          <a:xfrm>
            <a:off x="896112" y="4059936"/>
            <a:ext cx="4754880" cy="384048"/>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CustomerNo &amp; Country — who bought, and from where</a:t>
            </a:r>
            <a:endParaRPr lang="en-US" sz="1200" dirty="0"/>
          </a:p>
        </p:txBody>
      </p:sp>
      <p:sp>
        <p:nvSpPr>
          <p:cNvPr id="13" name="Shape 11"/>
          <p:cNvSpPr/>
          <p:nvPr/>
        </p:nvSpPr>
        <p:spPr>
          <a:xfrm>
            <a:off x="548640" y="4892040"/>
            <a:ext cx="5074920" cy="1417320"/>
          </a:xfrm>
          <a:prstGeom prst="roundRect">
            <a:avLst>
              <a:gd name="adj" fmla="val 5806"/>
            </a:avLst>
          </a:prstGeom>
          <a:solidFill>
            <a:srgbClr val="20285C"/>
          </a:solidFill>
          <a:ln/>
          <a:effectLst>
            <a:outerShdw blurRad="127000" dist="38100" dir="5400000" algn="bl" rotWithShape="0">
              <a:srgbClr val="1B1F3B">
                <a:alpha val="18000"/>
              </a:srgbClr>
            </a:outerShdw>
          </a:effectLst>
        </p:spPr>
      </p:sp>
      <p:sp>
        <p:nvSpPr>
          <p:cNvPr id="14" name="Text 12"/>
          <p:cNvSpPr txBox="1"/>
          <p:nvPr/>
        </p:nvSpPr>
        <p:spPr>
          <a:xfrm>
            <a:off x="777240" y="5047488"/>
            <a:ext cx="4617720" cy="292608"/>
          </a:xfrm>
          <a:prstGeom prst="rect">
            <a:avLst/>
          </a:prstGeom>
          <a:noFill/>
          <a:ln/>
        </p:spPr>
        <p:txBody>
          <a:bodyPr wrap="square" lIns="0" tIns="0" rIns="0" bIns="0" rtlCol="0" anchor="ctr"/>
          <a:lstStyle/>
          <a:p>
            <a:pPr marL="0" indent="0">
              <a:buNone/>
            </a:pPr>
            <a:r>
              <a:rPr lang="en-US" sz="1150" b="1" dirty="0">
                <a:solidFill>
                  <a:srgbClr val="F9E795"/>
                </a:solidFill>
                <a:latin typeface="Calibri" pitchFamily="34" charset="0"/>
                <a:ea typeface="Calibri" pitchFamily="34" charset="-122"/>
                <a:cs typeface="Calibri" pitchFamily="34" charset="-120"/>
              </a:rPr>
              <a:t>Original dataset on Kaggle</a:t>
            </a:r>
            <a:endParaRPr lang="en-US" sz="1150" dirty="0"/>
          </a:p>
        </p:txBody>
      </p:sp>
      <p:sp>
        <p:nvSpPr>
          <p:cNvPr id="15" name="Text 13"/>
          <p:cNvSpPr txBox="1"/>
          <p:nvPr/>
        </p:nvSpPr>
        <p:spPr>
          <a:xfrm>
            <a:off x="777240" y="5349240"/>
            <a:ext cx="4617720" cy="274320"/>
          </a:xfrm>
          <a:prstGeom prst="rect">
            <a:avLst/>
          </a:prstGeom>
          <a:noFill/>
          <a:ln/>
        </p:spPr>
        <p:txBody>
          <a:bodyPr wrap="square" lIns="0" tIns="0" rIns="0" bIns="0" rtlCol="0" anchor="ctr"/>
          <a:lstStyle/>
          <a:p>
            <a:pPr marL="0" indent="0">
              <a:buNone/>
            </a:pPr>
            <a:r>
              <a:rPr lang="en-US" sz="1100" dirty="0">
                <a:solidFill>
                  <a:srgbClr val="C7CBEA"/>
                </a:solidFill>
                <a:latin typeface="Calibri" pitchFamily="34" charset="0"/>
                <a:ea typeface="Calibri" pitchFamily="34" charset="-122"/>
                <a:cs typeface="Calibri" pitchFamily="34" charset="-120"/>
              </a:rPr>
              <a:t>An Online Shop Business — Gabriel Ramos</a:t>
            </a:r>
            <a:endParaRPr lang="en-US" sz="1100" dirty="0"/>
          </a:p>
        </p:txBody>
      </p:sp>
      <p:sp>
        <p:nvSpPr>
          <p:cNvPr id="16" name="Text 14">
            <a:hlinkClick r:id="rId3"/>
          </p:cNvPr>
          <p:cNvSpPr txBox="1"/>
          <p:nvPr/>
        </p:nvSpPr>
        <p:spPr>
          <a:xfrm>
            <a:off x="777240" y="5641848"/>
            <a:ext cx="4617720" cy="502920"/>
          </a:xfrm>
          <a:prstGeom prst="rect">
            <a:avLst/>
          </a:prstGeom>
          <a:noFill/>
          <a:ln/>
        </p:spPr>
        <p:txBody>
          <a:bodyPr wrap="square" lIns="0" tIns="0" rIns="0" bIns="0" rtlCol="0" anchor="ctr"/>
          <a:lstStyle/>
          <a:p>
            <a:pPr marL="0" indent="0">
              <a:lnSpc>
                <a:spcPct val="115000"/>
              </a:lnSpc>
              <a:buNone/>
            </a:pPr>
            <a:r>
              <a:rPr lang="en-US" sz="1050" u="sng" dirty="0">
                <a:solidFill>
                  <a:srgbClr val="FFFF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kaggle.com/datasets/gabrielramos87/an-online-shop-business</a:t>
            </a:r>
            <a:endParaRPr lang="en-US" sz="1050" dirty="0"/>
          </a:p>
        </p:txBody>
      </p:sp>
      <p:sp>
        <p:nvSpPr>
          <p:cNvPr id="17" name="Shape 15"/>
          <p:cNvSpPr/>
          <p:nvPr/>
        </p:nvSpPr>
        <p:spPr>
          <a:xfrm>
            <a:off x="5989320" y="1554480"/>
            <a:ext cx="5669280" cy="3520440"/>
          </a:xfrm>
          <a:prstGeom prst="roundRect">
            <a:avLst>
              <a:gd name="adj" fmla="val 2338"/>
            </a:avLst>
          </a:prstGeom>
          <a:solidFill>
            <a:srgbClr val="FFFFFF"/>
          </a:solidFill>
          <a:ln/>
          <a:effectLst>
            <a:outerShdw blurRad="127000" dist="38100" dir="5400000" algn="bl" rotWithShape="0">
              <a:srgbClr val="1B1F3B">
                <a:alpha val="18000"/>
              </a:srgbClr>
            </a:outerShdw>
          </a:effectLst>
        </p:spPr>
      </p:sp>
      <p:pic>
        <p:nvPicPr>
          <p:cNvPr id="18" name="Image 0" descr="/home/claude/assets/raw_dataset.png"/>
          <p:cNvPicPr>
            <a:picLocks noChangeAspect="1"/>
          </p:cNvPicPr>
          <p:nvPr/>
        </p:nvPicPr>
        <p:blipFill>
          <a:blip r:embed="rId4"/>
          <a:stretch>
            <a:fillRect/>
          </a:stretch>
        </p:blipFill>
        <p:spPr>
          <a:xfrm>
            <a:off x="6403630" y="1755648"/>
            <a:ext cx="4840661" cy="3118104"/>
          </a:xfrm>
          <a:prstGeom prst="rect">
            <a:avLst/>
          </a:prstGeom>
        </p:spPr>
      </p:pic>
      <p:sp>
        <p:nvSpPr>
          <p:cNvPr id="19" name="Text 16"/>
          <p:cNvSpPr txBox="1"/>
          <p:nvPr/>
        </p:nvSpPr>
        <p:spPr>
          <a:xfrm>
            <a:off x="5989320" y="5120640"/>
            <a:ext cx="5669280" cy="292608"/>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Raw transaction log — Sales Transaction sheet (v.4a)</a:t>
            </a:r>
            <a:endParaRPr lang="en-US" sz="1050" dirty="0"/>
          </a:p>
        </p:txBody>
      </p:sp>
      <p:sp>
        <p:nvSpPr>
          <p:cNvPr id="20" name="Shape 17"/>
          <p:cNvSpPr/>
          <p:nvPr/>
        </p:nvSpPr>
        <p:spPr>
          <a:xfrm>
            <a:off x="5989320" y="5532120"/>
            <a:ext cx="5669280" cy="777240"/>
          </a:xfrm>
          <a:prstGeom prst="roundRect">
            <a:avLst>
              <a:gd name="adj" fmla="val 9412"/>
            </a:avLst>
          </a:prstGeom>
          <a:solidFill>
            <a:srgbClr val="FFFFFF"/>
          </a:solidFill>
          <a:ln w="15875">
            <a:prstDash val="solid"/>
          </a:ln>
        </p:spPr>
      </p:sp>
      <p:sp>
        <p:nvSpPr>
          <p:cNvPr id="21" name="Text 18"/>
          <p:cNvSpPr txBox="1"/>
          <p:nvPr/>
        </p:nvSpPr>
        <p:spPr>
          <a:xfrm>
            <a:off x="6217920" y="5532120"/>
            <a:ext cx="5212080" cy="777240"/>
          </a:xfrm>
          <a:prstGeom prst="rect">
            <a:avLst/>
          </a:prstGeom>
          <a:noFill/>
          <a:ln/>
        </p:spPr>
        <p:txBody>
          <a:bodyPr wrap="square" lIns="0" tIns="0" rIns="0" bIns="0" rtlCol="0" anchor="ctr"/>
          <a:lstStyle/>
          <a:p>
            <a:pPr algn="ctr"/>
            <a:r>
              <a:rPr lang="en-IN" sz="1200" b="1" i="1" dirty="0">
                <a:solidFill>
                  <a:srgbClr val="6B7280"/>
                </a:solidFill>
                <a:latin typeface="Calibri" pitchFamily="34" charset="0"/>
                <a:ea typeface="Calibri" pitchFamily="34" charset="-122"/>
                <a:cs typeface="Calibri" pitchFamily="34" charset="-120"/>
              </a:rPr>
              <a:t>Download Excel Project File: </a:t>
            </a:r>
            <a:r>
              <a:rPr lang="en-IN" sz="1200" b="1" i="1" dirty="0">
                <a:solidFill>
                  <a:srgbClr val="6B7280"/>
                </a:solidFill>
                <a:latin typeface="Calibri" pitchFamily="34" charset="0"/>
                <a:ea typeface="Calibri" pitchFamily="34" charset="-122"/>
                <a:cs typeface="Calibri" pitchFamily="34" charset="-120"/>
                <a:hlinkClick r:id="rId5"/>
              </a:rPr>
              <a:t>GitHub Link</a:t>
            </a:r>
            <a:endParaRPr lang="en-US" sz="1200" b="1" dirty="0"/>
          </a:p>
        </p:txBody>
      </p:sp>
      <p:sp>
        <p:nvSpPr>
          <p:cNvPr id="22" name="Text 19"/>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THE HEADLINES</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Executive Summary</a:t>
            </a:r>
            <a:endParaRPr lang="en-US" sz="3200" dirty="0"/>
          </a:p>
        </p:txBody>
      </p:sp>
      <p:sp>
        <p:nvSpPr>
          <p:cNvPr id="4" name="Shape 2"/>
          <p:cNvSpPr/>
          <p:nvPr/>
        </p:nvSpPr>
        <p:spPr>
          <a:xfrm>
            <a:off x="548640" y="1600200"/>
            <a:ext cx="3454298" cy="2331720"/>
          </a:xfrm>
          <a:prstGeom prst="roundRect">
            <a:avLst>
              <a:gd name="adj" fmla="val 3529"/>
            </a:avLst>
          </a:prstGeom>
          <a:solidFill>
            <a:srgbClr val="FFFFFF"/>
          </a:solidFill>
          <a:ln/>
          <a:effectLst>
            <a:outerShdw blurRad="127000" dist="38100" dir="5400000" algn="bl" rotWithShape="0">
              <a:srgbClr val="1B1F3B">
                <a:alpha val="18000"/>
              </a:srgbClr>
            </a:outerShdw>
          </a:effectLst>
        </p:spPr>
      </p:sp>
      <p:sp>
        <p:nvSpPr>
          <p:cNvPr id="5" name="Shape 3"/>
          <p:cNvSpPr/>
          <p:nvPr/>
        </p:nvSpPr>
        <p:spPr>
          <a:xfrm>
            <a:off x="758952" y="1810512"/>
            <a:ext cx="201168" cy="201168"/>
          </a:xfrm>
          <a:prstGeom prst="ellipse">
            <a:avLst/>
          </a:prstGeom>
          <a:solidFill>
            <a:srgbClr val="F9E795"/>
          </a:solidFill>
          <a:ln/>
        </p:spPr>
      </p:sp>
      <p:sp>
        <p:nvSpPr>
          <p:cNvPr id="6" name="Text 4"/>
          <p:cNvSpPr txBox="1"/>
          <p:nvPr/>
        </p:nvSpPr>
        <p:spPr>
          <a:xfrm>
            <a:off x="749808" y="2010622"/>
            <a:ext cx="3051962" cy="1371600"/>
          </a:xfrm>
          <a:prstGeom prst="rect">
            <a:avLst/>
          </a:prstGeom>
          <a:noFill/>
          <a:ln/>
        </p:spPr>
        <p:txBody>
          <a:bodyPr wrap="square" lIns="0" tIns="0" rIns="0" bIns="0" rtlCol="0" anchor="t"/>
          <a:lstStyle/>
          <a:p>
            <a:pPr marL="0" indent="0" algn="ctr">
              <a:buNone/>
            </a:pPr>
            <a:r>
              <a:rPr lang="en-US" sz="2700" b="1" dirty="0">
                <a:solidFill>
                  <a:srgbClr val="2F3C7E"/>
                </a:solidFill>
                <a:latin typeface="Cambria" pitchFamily="34" charset="0"/>
                <a:ea typeface="Cambria" pitchFamily="34" charset="-122"/>
                <a:cs typeface="Cambria" pitchFamily="34" charset="-120"/>
              </a:rPr>
              <a:t>£62.3M</a:t>
            </a:r>
            <a:endParaRPr lang="en-US" sz="2700" dirty="0"/>
          </a:p>
        </p:txBody>
      </p:sp>
      <p:sp>
        <p:nvSpPr>
          <p:cNvPr id="7" name="Text 5"/>
          <p:cNvSpPr txBox="1"/>
          <p:nvPr/>
        </p:nvSpPr>
        <p:spPr>
          <a:xfrm>
            <a:off x="818066" y="2536662"/>
            <a:ext cx="2915446" cy="1028240"/>
          </a:xfrm>
          <a:prstGeom prst="rect">
            <a:avLst/>
          </a:prstGeom>
          <a:noFill/>
          <a:ln/>
        </p:spPr>
        <p:txBody>
          <a:bodyPr wrap="square" lIns="0" tIns="0" rIns="0" bIns="0" rtlCol="0" anchor="t"/>
          <a:lstStyle/>
          <a:p>
            <a:pPr marL="0" indent="0" algn="ctr">
              <a:lnSpc>
                <a:spcPct val="105000"/>
              </a:lnSpc>
              <a:buNone/>
            </a:pPr>
            <a:r>
              <a:rPr lang="en-US" sz="1600" dirty="0">
                <a:solidFill>
                  <a:srgbClr val="6B7280"/>
                </a:solidFill>
                <a:latin typeface="Calibri" pitchFamily="34" charset="0"/>
                <a:ea typeface="Calibri" pitchFamily="34" charset="-122"/>
                <a:cs typeface="Calibri" pitchFamily="34" charset="-120"/>
              </a:rPr>
              <a:t>Total revenue generated across the full transaction history.</a:t>
            </a:r>
            <a:endParaRPr lang="en-US" sz="1600" dirty="0"/>
          </a:p>
        </p:txBody>
      </p:sp>
      <p:sp>
        <p:nvSpPr>
          <p:cNvPr id="8" name="Shape 6"/>
          <p:cNvSpPr/>
          <p:nvPr/>
        </p:nvSpPr>
        <p:spPr>
          <a:xfrm>
            <a:off x="4368698" y="1600200"/>
            <a:ext cx="3454298" cy="2331720"/>
          </a:xfrm>
          <a:prstGeom prst="roundRect">
            <a:avLst>
              <a:gd name="adj" fmla="val 3529"/>
            </a:avLst>
          </a:prstGeom>
          <a:solidFill>
            <a:srgbClr val="FFFFFF"/>
          </a:solidFill>
          <a:ln/>
          <a:effectLst>
            <a:outerShdw blurRad="127000" dist="38100" dir="5400000" algn="bl" rotWithShape="0">
              <a:srgbClr val="1B1F3B">
                <a:alpha val="18000"/>
              </a:srgbClr>
            </a:outerShdw>
          </a:effectLst>
        </p:spPr>
      </p:sp>
      <p:sp>
        <p:nvSpPr>
          <p:cNvPr id="9" name="Shape 7"/>
          <p:cNvSpPr/>
          <p:nvPr/>
        </p:nvSpPr>
        <p:spPr>
          <a:xfrm>
            <a:off x="4579010" y="1810512"/>
            <a:ext cx="201168" cy="201168"/>
          </a:xfrm>
          <a:prstGeom prst="ellipse">
            <a:avLst/>
          </a:prstGeom>
          <a:solidFill>
            <a:srgbClr val="2F3C7E"/>
          </a:solidFill>
          <a:ln/>
        </p:spPr>
      </p:sp>
      <p:sp>
        <p:nvSpPr>
          <p:cNvPr id="10" name="Text 8"/>
          <p:cNvSpPr txBox="1"/>
          <p:nvPr/>
        </p:nvSpPr>
        <p:spPr>
          <a:xfrm>
            <a:off x="4569866" y="2010622"/>
            <a:ext cx="3051962" cy="1371600"/>
          </a:xfrm>
          <a:prstGeom prst="rect">
            <a:avLst/>
          </a:prstGeom>
          <a:noFill/>
          <a:ln/>
        </p:spPr>
        <p:txBody>
          <a:bodyPr wrap="square" lIns="0" tIns="0" rIns="0" bIns="0" rtlCol="0" anchor="t"/>
          <a:lstStyle/>
          <a:p>
            <a:pPr marL="0" indent="0" algn="ctr">
              <a:buNone/>
            </a:pPr>
            <a:r>
              <a:rPr lang="en-US" sz="2700" b="1" dirty="0">
                <a:solidFill>
                  <a:srgbClr val="2F3C7E"/>
                </a:solidFill>
                <a:latin typeface="Cambria" pitchFamily="34" charset="0"/>
                <a:ea typeface="Cambria" pitchFamily="34" charset="-122"/>
                <a:cs typeface="Cambria" pitchFamily="34" charset="-120"/>
              </a:rPr>
              <a:t>4,738</a:t>
            </a:r>
            <a:endParaRPr lang="en-US" sz="2700" dirty="0"/>
          </a:p>
        </p:txBody>
      </p:sp>
      <p:sp>
        <p:nvSpPr>
          <p:cNvPr id="11" name="Text 9"/>
          <p:cNvSpPr txBox="1"/>
          <p:nvPr/>
        </p:nvSpPr>
        <p:spPr>
          <a:xfrm>
            <a:off x="4569866" y="2536662"/>
            <a:ext cx="3051962" cy="502920"/>
          </a:xfrm>
          <a:prstGeom prst="rect">
            <a:avLst/>
          </a:prstGeom>
          <a:noFill/>
          <a:ln/>
        </p:spPr>
        <p:txBody>
          <a:bodyPr wrap="square" lIns="0" tIns="0" rIns="0" bIns="0" rtlCol="0" anchor="t"/>
          <a:lstStyle/>
          <a:p>
            <a:pPr marL="0" indent="0" algn="ctr">
              <a:lnSpc>
                <a:spcPct val="105000"/>
              </a:lnSpc>
              <a:buNone/>
            </a:pPr>
            <a:r>
              <a:rPr lang="en-US" sz="1600" dirty="0">
                <a:solidFill>
                  <a:srgbClr val="6B7280"/>
                </a:solidFill>
                <a:latin typeface="Calibri" pitchFamily="34" charset="0"/>
                <a:ea typeface="Calibri" pitchFamily="34" charset="-122"/>
                <a:cs typeface="Calibri" pitchFamily="34" charset="-120"/>
              </a:rPr>
              <a:t>Unique customers, with a 98% repeat-purchase rate.</a:t>
            </a:r>
          </a:p>
        </p:txBody>
      </p:sp>
      <p:sp>
        <p:nvSpPr>
          <p:cNvPr id="12" name="Shape 10"/>
          <p:cNvSpPr/>
          <p:nvPr/>
        </p:nvSpPr>
        <p:spPr>
          <a:xfrm>
            <a:off x="8188757" y="1600200"/>
            <a:ext cx="3454298" cy="2331720"/>
          </a:xfrm>
          <a:prstGeom prst="roundRect">
            <a:avLst>
              <a:gd name="adj" fmla="val 3529"/>
            </a:avLst>
          </a:prstGeom>
          <a:solidFill>
            <a:srgbClr val="FFFFFF"/>
          </a:solidFill>
          <a:ln/>
          <a:effectLst>
            <a:outerShdw blurRad="127000" dist="38100" dir="5400000" algn="bl" rotWithShape="0">
              <a:srgbClr val="1B1F3B">
                <a:alpha val="18000"/>
              </a:srgbClr>
            </a:outerShdw>
          </a:effectLst>
        </p:spPr>
        <p:txBody>
          <a:bodyPr/>
          <a:lstStyle/>
          <a:p>
            <a:endParaRPr lang="en-US" dirty="0"/>
          </a:p>
        </p:txBody>
      </p:sp>
      <p:sp>
        <p:nvSpPr>
          <p:cNvPr id="13" name="Shape 11"/>
          <p:cNvSpPr/>
          <p:nvPr/>
        </p:nvSpPr>
        <p:spPr>
          <a:xfrm>
            <a:off x="8399069" y="1810512"/>
            <a:ext cx="201168" cy="201168"/>
          </a:xfrm>
          <a:prstGeom prst="ellipse">
            <a:avLst/>
          </a:prstGeom>
          <a:solidFill>
            <a:srgbClr val="F96167"/>
          </a:solidFill>
          <a:ln/>
        </p:spPr>
      </p:sp>
      <p:sp>
        <p:nvSpPr>
          <p:cNvPr id="14" name="Text 12"/>
          <p:cNvSpPr txBox="1"/>
          <p:nvPr/>
        </p:nvSpPr>
        <p:spPr>
          <a:xfrm>
            <a:off x="8567810" y="2010622"/>
            <a:ext cx="2540542" cy="557784"/>
          </a:xfrm>
          <a:prstGeom prst="rect">
            <a:avLst/>
          </a:prstGeom>
          <a:noFill/>
          <a:ln/>
        </p:spPr>
        <p:txBody>
          <a:bodyPr wrap="square" lIns="0" tIns="0" rIns="0" bIns="0" rtlCol="0" anchor="t"/>
          <a:lstStyle/>
          <a:p>
            <a:pPr marL="0" indent="0" algn="ctr">
              <a:buNone/>
            </a:pPr>
            <a:r>
              <a:rPr lang="en-US" sz="2700" b="1" dirty="0">
                <a:solidFill>
                  <a:srgbClr val="2F3C7E"/>
                </a:solidFill>
                <a:latin typeface="Cambria" pitchFamily="34" charset="0"/>
                <a:ea typeface="Cambria" pitchFamily="34" charset="-122"/>
              </a:rPr>
              <a:t>95% / 85%</a:t>
            </a:r>
          </a:p>
        </p:txBody>
      </p:sp>
      <p:sp>
        <p:nvSpPr>
          <p:cNvPr id="15" name="Text 13"/>
          <p:cNvSpPr txBox="1"/>
          <p:nvPr/>
        </p:nvSpPr>
        <p:spPr>
          <a:xfrm>
            <a:off x="8312100" y="2536662"/>
            <a:ext cx="3051962" cy="502920"/>
          </a:xfrm>
          <a:prstGeom prst="rect">
            <a:avLst/>
          </a:prstGeom>
          <a:noFill/>
          <a:ln/>
        </p:spPr>
        <p:txBody>
          <a:bodyPr wrap="square" lIns="0" tIns="0" rIns="0" bIns="0" rtlCol="0" anchor="t"/>
          <a:lstStyle/>
          <a:p>
            <a:pPr algn="ctr">
              <a:lnSpc>
                <a:spcPct val="105000"/>
              </a:lnSpc>
            </a:pPr>
            <a:r>
              <a:rPr lang="en-US" sz="1600" dirty="0">
                <a:solidFill>
                  <a:srgbClr val="6B7280"/>
                </a:solidFill>
                <a:latin typeface="Calibri" pitchFamily="34" charset="0"/>
                <a:ea typeface="Calibri" pitchFamily="34" charset="-122"/>
                <a:cs typeface="Calibri" pitchFamily="34" charset="-120"/>
              </a:rPr>
              <a:t>Share of customers / revenue coming from the UK alone.</a:t>
            </a:r>
          </a:p>
        </p:txBody>
      </p:sp>
      <p:sp>
        <p:nvSpPr>
          <p:cNvPr id="16" name="Shape 14"/>
          <p:cNvSpPr/>
          <p:nvPr/>
        </p:nvSpPr>
        <p:spPr>
          <a:xfrm>
            <a:off x="548640" y="4297680"/>
            <a:ext cx="3454298" cy="2331720"/>
          </a:xfrm>
          <a:prstGeom prst="roundRect">
            <a:avLst>
              <a:gd name="adj" fmla="val 3529"/>
            </a:avLst>
          </a:prstGeom>
          <a:solidFill>
            <a:srgbClr val="FFFFFF"/>
          </a:solidFill>
          <a:ln/>
          <a:effectLst>
            <a:outerShdw blurRad="127000" dist="38100" dir="5400000" algn="bl" rotWithShape="0">
              <a:srgbClr val="1B1F3B">
                <a:alpha val="18000"/>
              </a:srgbClr>
            </a:outerShdw>
          </a:effectLst>
        </p:spPr>
      </p:sp>
      <p:sp>
        <p:nvSpPr>
          <p:cNvPr id="17" name="Shape 15"/>
          <p:cNvSpPr/>
          <p:nvPr/>
        </p:nvSpPr>
        <p:spPr>
          <a:xfrm>
            <a:off x="758952" y="4507992"/>
            <a:ext cx="201168" cy="201168"/>
          </a:xfrm>
          <a:prstGeom prst="ellipse">
            <a:avLst/>
          </a:prstGeom>
          <a:solidFill>
            <a:srgbClr val="F9E795"/>
          </a:solidFill>
          <a:ln/>
        </p:spPr>
      </p:sp>
      <p:sp>
        <p:nvSpPr>
          <p:cNvPr id="18" name="Text 16"/>
          <p:cNvSpPr txBox="1"/>
          <p:nvPr/>
        </p:nvSpPr>
        <p:spPr>
          <a:xfrm>
            <a:off x="749808" y="4754880"/>
            <a:ext cx="3051962" cy="1371600"/>
          </a:xfrm>
          <a:prstGeom prst="rect">
            <a:avLst/>
          </a:prstGeom>
          <a:noFill/>
          <a:ln/>
        </p:spPr>
        <p:txBody>
          <a:bodyPr wrap="square" lIns="0" tIns="0" rIns="0" bIns="0" rtlCol="0" anchor="t"/>
          <a:lstStyle/>
          <a:p>
            <a:pPr marL="0" indent="0" algn="ctr">
              <a:buNone/>
            </a:pPr>
            <a:r>
              <a:rPr lang="en-US" sz="2700" b="1" dirty="0">
                <a:solidFill>
                  <a:srgbClr val="2F3C7E"/>
                </a:solidFill>
                <a:latin typeface="Cambria" pitchFamily="34" charset="0"/>
                <a:ea typeface="Cambria" pitchFamily="34" charset="-122"/>
                <a:cs typeface="Cambria" pitchFamily="34" charset="-120"/>
              </a:rPr>
              <a:t>389 → 42%</a:t>
            </a:r>
            <a:endParaRPr lang="en-US" sz="2700" dirty="0"/>
          </a:p>
        </p:txBody>
      </p:sp>
      <p:sp>
        <p:nvSpPr>
          <p:cNvPr id="19" name="Text 17"/>
          <p:cNvSpPr txBox="1"/>
          <p:nvPr/>
        </p:nvSpPr>
        <p:spPr>
          <a:xfrm>
            <a:off x="841248" y="5257800"/>
            <a:ext cx="3051962" cy="502920"/>
          </a:xfrm>
          <a:prstGeom prst="rect">
            <a:avLst/>
          </a:prstGeom>
          <a:noFill/>
          <a:ln/>
        </p:spPr>
        <p:txBody>
          <a:bodyPr wrap="square" lIns="0" tIns="0" rIns="0" bIns="0" rtlCol="0" anchor="t"/>
          <a:lstStyle/>
          <a:p>
            <a:pPr indent="0" algn="ctr">
              <a:lnSpc>
                <a:spcPct val="105000"/>
              </a:lnSpc>
              <a:buNone/>
            </a:pPr>
            <a:r>
              <a:rPr lang="en-US" sz="1600" dirty="0">
                <a:solidFill>
                  <a:srgbClr val="6B7280"/>
                </a:solidFill>
                <a:latin typeface="Calibri" pitchFamily="34" charset="0"/>
                <a:ea typeface="Calibri" pitchFamily="34" charset="-122"/>
                <a:cs typeface="Calibri" pitchFamily="34" charset="-120"/>
              </a:rPr>
              <a:t>Champions are </a:t>
            </a:r>
            <a:r>
              <a:rPr lang="en-US" sz="1600" b="1" dirty="0">
                <a:solidFill>
                  <a:srgbClr val="6B7280"/>
                </a:solidFill>
                <a:latin typeface="Calibri" pitchFamily="34" charset="0"/>
                <a:ea typeface="Calibri" pitchFamily="34" charset="-122"/>
                <a:cs typeface="Calibri" pitchFamily="34" charset="-120"/>
              </a:rPr>
              <a:t>8% of customers but drive 42% of revenue</a:t>
            </a:r>
            <a:r>
              <a:rPr lang="en-US" sz="1600" dirty="0">
                <a:solidFill>
                  <a:srgbClr val="6B7280"/>
                </a:solidFill>
                <a:latin typeface="Calibri" pitchFamily="34" charset="0"/>
                <a:ea typeface="Calibri" pitchFamily="34" charset="-122"/>
                <a:cs typeface="Calibri" pitchFamily="34" charset="-120"/>
              </a:rPr>
              <a:t>.</a:t>
            </a:r>
          </a:p>
        </p:txBody>
      </p:sp>
      <p:sp>
        <p:nvSpPr>
          <p:cNvPr id="20" name="Shape 18"/>
          <p:cNvSpPr/>
          <p:nvPr/>
        </p:nvSpPr>
        <p:spPr>
          <a:xfrm>
            <a:off x="4368698" y="4297680"/>
            <a:ext cx="3454298" cy="2331720"/>
          </a:xfrm>
          <a:prstGeom prst="roundRect">
            <a:avLst>
              <a:gd name="adj" fmla="val 3529"/>
            </a:avLst>
          </a:prstGeom>
          <a:solidFill>
            <a:srgbClr val="FFFFFF"/>
          </a:solidFill>
          <a:ln/>
          <a:effectLst>
            <a:outerShdw blurRad="127000" dist="38100" dir="5400000" algn="bl" rotWithShape="0">
              <a:srgbClr val="1B1F3B">
                <a:alpha val="18000"/>
              </a:srgbClr>
            </a:outerShdw>
          </a:effectLst>
        </p:spPr>
      </p:sp>
      <p:sp>
        <p:nvSpPr>
          <p:cNvPr id="21" name="Shape 19"/>
          <p:cNvSpPr/>
          <p:nvPr/>
        </p:nvSpPr>
        <p:spPr>
          <a:xfrm>
            <a:off x="4579010" y="4507992"/>
            <a:ext cx="201168" cy="201168"/>
          </a:xfrm>
          <a:prstGeom prst="ellipse">
            <a:avLst/>
          </a:prstGeom>
          <a:solidFill>
            <a:srgbClr val="F96167"/>
          </a:solidFill>
          <a:ln/>
        </p:spPr>
      </p:sp>
      <p:sp>
        <p:nvSpPr>
          <p:cNvPr id="22" name="Text 20"/>
          <p:cNvSpPr txBox="1"/>
          <p:nvPr/>
        </p:nvSpPr>
        <p:spPr>
          <a:xfrm>
            <a:off x="4569866" y="4754880"/>
            <a:ext cx="3051962" cy="1371600"/>
          </a:xfrm>
          <a:prstGeom prst="rect">
            <a:avLst/>
          </a:prstGeom>
          <a:noFill/>
          <a:ln/>
        </p:spPr>
        <p:txBody>
          <a:bodyPr wrap="square" lIns="0" tIns="0" rIns="0" bIns="0" rtlCol="0" anchor="t"/>
          <a:lstStyle/>
          <a:p>
            <a:pPr marL="0" indent="0" algn="ctr">
              <a:buNone/>
            </a:pPr>
            <a:r>
              <a:rPr lang="en-US" sz="2700" b="1" dirty="0">
                <a:solidFill>
                  <a:srgbClr val="2F3C7E"/>
                </a:solidFill>
                <a:latin typeface="Cambria" pitchFamily="34" charset="0"/>
                <a:ea typeface="Cambria" pitchFamily="34" charset="-122"/>
                <a:cs typeface="Cambria" pitchFamily="34" charset="-120"/>
              </a:rPr>
              <a:t>£699K</a:t>
            </a:r>
            <a:endParaRPr lang="en-US" sz="2700" dirty="0"/>
          </a:p>
        </p:txBody>
      </p:sp>
      <p:sp>
        <p:nvSpPr>
          <p:cNvPr id="23" name="Text 21"/>
          <p:cNvSpPr txBox="1"/>
          <p:nvPr/>
        </p:nvSpPr>
        <p:spPr>
          <a:xfrm>
            <a:off x="4569866" y="5257800"/>
            <a:ext cx="3051962" cy="502920"/>
          </a:xfrm>
          <a:prstGeom prst="rect">
            <a:avLst/>
          </a:prstGeom>
          <a:noFill/>
          <a:ln/>
        </p:spPr>
        <p:txBody>
          <a:bodyPr wrap="square" lIns="0" tIns="0" rIns="0" bIns="0" rtlCol="0" anchor="t"/>
          <a:lstStyle/>
          <a:p>
            <a:pPr algn="ctr">
              <a:lnSpc>
                <a:spcPct val="105000"/>
              </a:lnSpc>
            </a:pPr>
            <a:r>
              <a:rPr lang="en-US" sz="1600" dirty="0">
                <a:solidFill>
                  <a:srgbClr val="6B7280"/>
                </a:solidFill>
                <a:latin typeface="Calibri" pitchFamily="34" charset="0"/>
                <a:ea typeface="Calibri" pitchFamily="34" charset="-122"/>
                <a:cs typeface="Calibri" pitchFamily="34" charset="-120"/>
              </a:rPr>
              <a:t>Revenue sitting with 34 high-value </a:t>
            </a:r>
            <a:r>
              <a:rPr lang="en-US" sz="1600" b="1" dirty="0">
                <a:solidFill>
                  <a:srgbClr val="F96167"/>
                </a:solidFill>
                <a:latin typeface="Calibri" pitchFamily="34" charset="0"/>
                <a:ea typeface="Calibri" pitchFamily="34" charset="-122"/>
                <a:cs typeface="Calibri" pitchFamily="34" charset="-120"/>
              </a:rPr>
              <a:t>At-Risk customers</a:t>
            </a:r>
            <a:r>
              <a:rPr lang="en-US" sz="1600" dirty="0">
                <a:solidFill>
                  <a:srgbClr val="6B7280"/>
                </a:solidFill>
                <a:latin typeface="Calibri" pitchFamily="34" charset="0"/>
                <a:ea typeface="Calibri" pitchFamily="34" charset="-122"/>
                <a:cs typeface="Calibri" pitchFamily="34" charset="-120"/>
              </a:rPr>
              <a:t>.</a:t>
            </a:r>
          </a:p>
        </p:txBody>
      </p:sp>
      <p:sp>
        <p:nvSpPr>
          <p:cNvPr id="24" name="Shape 22"/>
          <p:cNvSpPr/>
          <p:nvPr/>
        </p:nvSpPr>
        <p:spPr>
          <a:xfrm>
            <a:off x="8188757" y="4297680"/>
            <a:ext cx="3454298" cy="2331720"/>
          </a:xfrm>
          <a:prstGeom prst="roundRect">
            <a:avLst>
              <a:gd name="adj" fmla="val 3529"/>
            </a:avLst>
          </a:prstGeom>
          <a:solidFill>
            <a:srgbClr val="FFFFFF"/>
          </a:solidFill>
          <a:ln/>
          <a:effectLst>
            <a:outerShdw blurRad="127000" dist="38100" dir="5400000" algn="bl" rotWithShape="0">
              <a:srgbClr val="1B1F3B">
                <a:alpha val="18000"/>
              </a:srgbClr>
            </a:outerShdw>
          </a:effectLst>
        </p:spPr>
      </p:sp>
      <p:sp>
        <p:nvSpPr>
          <p:cNvPr id="25" name="Shape 23"/>
          <p:cNvSpPr/>
          <p:nvPr/>
        </p:nvSpPr>
        <p:spPr>
          <a:xfrm>
            <a:off x="8399069" y="4507992"/>
            <a:ext cx="201168" cy="201168"/>
          </a:xfrm>
          <a:prstGeom prst="ellipse">
            <a:avLst/>
          </a:prstGeom>
          <a:solidFill>
            <a:srgbClr val="3FA7A0"/>
          </a:solidFill>
          <a:ln/>
        </p:spPr>
      </p:sp>
      <p:sp>
        <p:nvSpPr>
          <p:cNvPr id="26" name="Text 24"/>
          <p:cNvSpPr txBox="1"/>
          <p:nvPr/>
        </p:nvSpPr>
        <p:spPr>
          <a:xfrm>
            <a:off x="8490509" y="4754880"/>
            <a:ext cx="3051962" cy="1371600"/>
          </a:xfrm>
          <a:prstGeom prst="rect">
            <a:avLst/>
          </a:prstGeom>
          <a:noFill/>
          <a:ln/>
        </p:spPr>
        <p:txBody>
          <a:bodyPr wrap="square" lIns="0" tIns="0" rIns="0" bIns="0" rtlCol="0" anchor="t"/>
          <a:lstStyle/>
          <a:p>
            <a:pPr marL="0" indent="0" algn="ctr">
              <a:buNone/>
            </a:pPr>
            <a:r>
              <a:rPr lang="en-US" sz="2700" b="1" dirty="0">
                <a:solidFill>
                  <a:srgbClr val="2F3C7E"/>
                </a:solidFill>
                <a:latin typeface="Cambria" pitchFamily="34" charset="0"/>
                <a:ea typeface="Cambria" pitchFamily="34" charset="-122"/>
                <a:cs typeface="Cambria" pitchFamily="34" charset="-120"/>
              </a:rPr>
              <a:t>35%</a:t>
            </a:r>
            <a:endParaRPr lang="en-US" sz="2700" dirty="0"/>
          </a:p>
        </p:txBody>
      </p:sp>
      <p:sp>
        <p:nvSpPr>
          <p:cNvPr id="27" name="Text 25"/>
          <p:cNvSpPr txBox="1"/>
          <p:nvPr/>
        </p:nvSpPr>
        <p:spPr>
          <a:xfrm>
            <a:off x="8389925" y="5257800"/>
            <a:ext cx="3051962" cy="502920"/>
          </a:xfrm>
          <a:prstGeom prst="rect">
            <a:avLst/>
          </a:prstGeom>
          <a:noFill/>
          <a:ln/>
        </p:spPr>
        <p:txBody>
          <a:bodyPr wrap="square" lIns="0" tIns="0" rIns="0" bIns="0" rtlCol="0" anchor="t"/>
          <a:lstStyle/>
          <a:p>
            <a:pPr indent="0" algn="ctr">
              <a:lnSpc>
                <a:spcPct val="105000"/>
              </a:lnSpc>
              <a:buNone/>
            </a:pPr>
            <a:r>
              <a:rPr lang="en-US" sz="1600" dirty="0">
                <a:solidFill>
                  <a:srgbClr val="6B7280"/>
                </a:solidFill>
                <a:latin typeface="Calibri" pitchFamily="34" charset="0"/>
                <a:ea typeface="Calibri" pitchFamily="34" charset="-122"/>
                <a:cs typeface="Calibri" pitchFamily="34" charset="-120"/>
              </a:rPr>
              <a:t>Share of the year’s revenue happens in </a:t>
            </a:r>
            <a:r>
              <a:rPr lang="en-US" sz="1600" b="1" dirty="0">
                <a:solidFill>
                  <a:srgbClr val="6B7280"/>
                </a:solidFill>
                <a:latin typeface="Calibri" pitchFamily="34" charset="0"/>
                <a:ea typeface="Calibri" pitchFamily="34" charset="-122"/>
                <a:cs typeface="Calibri" pitchFamily="34" charset="-120"/>
              </a:rPr>
              <a:t>Q4 alone</a:t>
            </a:r>
            <a:r>
              <a:rPr lang="en-US" sz="1600" dirty="0">
                <a:solidFill>
                  <a:srgbClr val="6B7280"/>
                </a:solidFill>
                <a:latin typeface="Calibri" pitchFamily="34" charset="0"/>
                <a:ea typeface="Calibri" pitchFamily="34" charset="-122"/>
                <a:cs typeface="Calibri" pitchFamily="34" charset="-120"/>
              </a:rPr>
              <a:t>.</a:t>
            </a:r>
          </a:p>
        </p:txBody>
      </p:sp>
      <p:sp>
        <p:nvSpPr>
          <p:cNvPr id="28" name="Text 26"/>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THE TOOL BEHIND THE INSIGHTS</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Meet the Segmentation Tool</a:t>
            </a:r>
            <a:endParaRPr lang="en-US" sz="3200" dirty="0"/>
          </a:p>
        </p:txBody>
      </p:sp>
      <p:sp>
        <p:nvSpPr>
          <p:cNvPr id="4" name="Text 2"/>
          <p:cNvSpPr txBox="1"/>
          <p:nvPr/>
        </p:nvSpPr>
        <p:spPr>
          <a:xfrm>
            <a:off x="548640" y="1554480"/>
            <a:ext cx="5120640" cy="1371600"/>
          </a:xfrm>
          <a:prstGeom prst="rect">
            <a:avLst/>
          </a:prstGeom>
          <a:noFill/>
          <a:ln/>
        </p:spPr>
        <p:txBody>
          <a:bodyPr wrap="square" lIns="0" tIns="0" rIns="0" bIns="0" rtlCol="0" anchor="ctr"/>
          <a:lstStyle/>
          <a:p>
            <a:pPr marL="0" indent="0" algn="ctr">
              <a:lnSpc>
                <a:spcPct val="130000"/>
              </a:lnSpc>
              <a:buNone/>
            </a:pPr>
            <a:r>
              <a:rPr lang="en-US" sz="1350" dirty="0">
                <a:solidFill>
                  <a:srgbClr val="23263B"/>
                </a:solidFill>
                <a:latin typeface="Calibri" pitchFamily="34" charset="0"/>
                <a:ea typeface="Calibri" pitchFamily="34" charset="-122"/>
                <a:cs typeface="Calibri" pitchFamily="34" charset="-120"/>
              </a:rPr>
              <a:t>Every customer is scored 0–10 on three axes: how recently they bought, how often, and how much they spent, using percentile ranks. The shown pivot runs on a data model and using the slicer you can find customers by their respective segments.</a:t>
            </a:r>
            <a:endParaRPr lang="en-US" sz="1350" dirty="0"/>
          </a:p>
        </p:txBody>
      </p:sp>
      <p:sp>
        <p:nvSpPr>
          <p:cNvPr id="5" name="Shape 3"/>
          <p:cNvSpPr/>
          <p:nvPr/>
        </p:nvSpPr>
        <p:spPr>
          <a:xfrm>
            <a:off x="548640" y="3063240"/>
            <a:ext cx="1417320" cy="329184"/>
          </a:xfrm>
          <a:prstGeom prst="roundRect">
            <a:avLst>
              <a:gd name="adj" fmla="val 50000"/>
            </a:avLst>
          </a:prstGeom>
          <a:solidFill>
            <a:srgbClr val="F9E795"/>
          </a:solidFill>
          <a:ln/>
        </p:spPr>
      </p:sp>
      <p:sp>
        <p:nvSpPr>
          <p:cNvPr id="6" name="Text 4"/>
          <p:cNvSpPr txBox="1"/>
          <p:nvPr/>
        </p:nvSpPr>
        <p:spPr>
          <a:xfrm>
            <a:off x="548640" y="3063240"/>
            <a:ext cx="1417320" cy="329184"/>
          </a:xfrm>
          <a:prstGeom prst="rect">
            <a:avLst/>
          </a:prstGeom>
          <a:noFill/>
          <a:ln/>
        </p:spPr>
        <p:txBody>
          <a:bodyPr wrap="square" lIns="0" tIns="0" rIns="0" bIns="0" rtlCol="0" anchor="ctr"/>
          <a:lstStyle/>
          <a:p>
            <a:pPr marL="0" indent="0" algn="ctr">
              <a:buNone/>
            </a:pPr>
            <a:r>
              <a:rPr lang="en-US" sz="1200" b="1" dirty="0">
                <a:solidFill>
                  <a:srgbClr val="2F3C7E"/>
                </a:solidFill>
                <a:latin typeface="Calibri" pitchFamily="34" charset="0"/>
                <a:ea typeface="Calibri" pitchFamily="34" charset="-122"/>
                <a:cs typeface="Calibri" pitchFamily="34" charset="-120"/>
              </a:rPr>
              <a:t>Champions</a:t>
            </a:r>
            <a:endParaRPr lang="en-US" sz="1200" dirty="0"/>
          </a:p>
        </p:txBody>
      </p:sp>
      <p:sp>
        <p:nvSpPr>
          <p:cNvPr id="7" name="Text 5"/>
          <p:cNvSpPr txBox="1"/>
          <p:nvPr/>
        </p:nvSpPr>
        <p:spPr>
          <a:xfrm>
            <a:off x="2148840" y="3017520"/>
            <a:ext cx="3566160" cy="457200"/>
          </a:xfrm>
          <a:prstGeom prst="rect">
            <a:avLst/>
          </a:prstGeom>
          <a:noFill/>
          <a:ln/>
        </p:spPr>
        <p:txBody>
          <a:bodyPr wrap="square" lIns="0" tIns="0" rIns="0" bIns="0" rtlCol="0" anchor="ctr"/>
          <a:lstStyle/>
          <a:p>
            <a:pPr marL="0" indent="0">
              <a:lnSpc>
                <a:spcPct val="110000"/>
              </a:lnSpc>
              <a:buNone/>
            </a:pPr>
            <a:r>
              <a:rPr lang="en-US" sz="1080" dirty="0">
                <a:solidFill>
                  <a:srgbClr val="6B7280"/>
                </a:solidFill>
                <a:latin typeface="Calibri" pitchFamily="34" charset="0"/>
                <a:ea typeface="Calibri" pitchFamily="34" charset="-122"/>
                <a:cs typeface="Calibri" pitchFamily="34" charset="-120"/>
              </a:rPr>
              <a:t>High Recency + High Frequency + High Monetary — recent, frequent, high-value.</a:t>
            </a:r>
            <a:endParaRPr lang="en-US" sz="1080" dirty="0"/>
          </a:p>
        </p:txBody>
      </p:sp>
      <p:sp>
        <p:nvSpPr>
          <p:cNvPr id="8" name="Shape 6"/>
          <p:cNvSpPr/>
          <p:nvPr/>
        </p:nvSpPr>
        <p:spPr>
          <a:xfrm>
            <a:off x="548640" y="3630168"/>
            <a:ext cx="1417320" cy="329184"/>
          </a:xfrm>
          <a:prstGeom prst="roundRect">
            <a:avLst>
              <a:gd name="adj" fmla="val 50000"/>
            </a:avLst>
          </a:prstGeom>
          <a:solidFill>
            <a:srgbClr val="3FA7A0"/>
          </a:solidFill>
          <a:ln/>
        </p:spPr>
      </p:sp>
      <p:sp>
        <p:nvSpPr>
          <p:cNvPr id="9" name="Text 7"/>
          <p:cNvSpPr txBox="1"/>
          <p:nvPr/>
        </p:nvSpPr>
        <p:spPr>
          <a:xfrm>
            <a:off x="548640" y="3630168"/>
            <a:ext cx="141732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Loyal</a:t>
            </a:r>
            <a:endParaRPr lang="en-US" sz="1200" dirty="0"/>
          </a:p>
        </p:txBody>
      </p:sp>
      <p:sp>
        <p:nvSpPr>
          <p:cNvPr id="10" name="Text 8"/>
          <p:cNvSpPr txBox="1"/>
          <p:nvPr/>
        </p:nvSpPr>
        <p:spPr>
          <a:xfrm>
            <a:off x="2148840" y="3584448"/>
            <a:ext cx="3566160" cy="457200"/>
          </a:xfrm>
          <a:prstGeom prst="rect">
            <a:avLst/>
          </a:prstGeom>
          <a:noFill/>
          <a:ln/>
        </p:spPr>
        <p:txBody>
          <a:bodyPr wrap="square" lIns="0" tIns="0" rIns="0" bIns="0" rtlCol="0" anchor="ctr"/>
          <a:lstStyle/>
          <a:p>
            <a:pPr marL="0" indent="0">
              <a:lnSpc>
                <a:spcPct val="110000"/>
              </a:lnSpc>
              <a:buNone/>
            </a:pPr>
            <a:r>
              <a:rPr lang="en-US" sz="1080" dirty="0">
                <a:solidFill>
                  <a:srgbClr val="6B7280"/>
                </a:solidFill>
                <a:latin typeface="Calibri" pitchFamily="34" charset="0"/>
                <a:ea typeface="Calibri" pitchFamily="34" charset="-122"/>
                <a:cs typeface="Calibri" pitchFamily="34" charset="-120"/>
              </a:rPr>
              <a:t>High Frequency + High Monetary — steady, moderate-recency value.</a:t>
            </a:r>
            <a:endParaRPr lang="en-US" sz="1080" dirty="0"/>
          </a:p>
        </p:txBody>
      </p:sp>
      <p:sp>
        <p:nvSpPr>
          <p:cNvPr id="11" name="Shape 9"/>
          <p:cNvSpPr/>
          <p:nvPr/>
        </p:nvSpPr>
        <p:spPr>
          <a:xfrm>
            <a:off x="548640" y="4197096"/>
            <a:ext cx="1417320" cy="329184"/>
          </a:xfrm>
          <a:prstGeom prst="roundRect">
            <a:avLst>
              <a:gd name="adj" fmla="val 50000"/>
            </a:avLst>
          </a:prstGeom>
          <a:solidFill>
            <a:srgbClr val="2F3C7E"/>
          </a:solidFill>
          <a:ln/>
        </p:spPr>
      </p:sp>
      <p:sp>
        <p:nvSpPr>
          <p:cNvPr id="12" name="Text 10"/>
          <p:cNvSpPr txBox="1"/>
          <p:nvPr/>
        </p:nvSpPr>
        <p:spPr>
          <a:xfrm>
            <a:off x="548640" y="4197096"/>
            <a:ext cx="141732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Potential</a:t>
            </a:r>
            <a:endParaRPr lang="en-US" sz="1200" dirty="0"/>
          </a:p>
        </p:txBody>
      </p:sp>
      <p:sp>
        <p:nvSpPr>
          <p:cNvPr id="13" name="Text 11"/>
          <p:cNvSpPr txBox="1"/>
          <p:nvPr/>
        </p:nvSpPr>
        <p:spPr>
          <a:xfrm>
            <a:off x="2148840" y="4151376"/>
            <a:ext cx="3566160" cy="457200"/>
          </a:xfrm>
          <a:prstGeom prst="rect">
            <a:avLst/>
          </a:prstGeom>
          <a:noFill/>
          <a:ln/>
        </p:spPr>
        <p:txBody>
          <a:bodyPr wrap="square" lIns="0" tIns="0" rIns="0" bIns="0" rtlCol="0" anchor="ctr"/>
          <a:lstStyle/>
          <a:p>
            <a:pPr marL="0" indent="0">
              <a:lnSpc>
                <a:spcPct val="110000"/>
              </a:lnSpc>
              <a:buNone/>
            </a:pPr>
            <a:r>
              <a:rPr lang="en-US" sz="1080" dirty="0">
                <a:solidFill>
                  <a:srgbClr val="6B7280"/>
                </a:solidFill>
                <a:latin typeface="Calibri" pitchFamily="34" charset="0"/>
                <a:ea typeface="Calibri" pitchFamily="34" charset="-122"/>
                <a:cs typeface="Calibri" pitchFamily="34" charset="-120"/>
              </a:rPr>
              <a:t>High Recency, lower Frequency/Monetary — new buyers who haven’t spent much</a:t>
            </a:r>
            <a:endParaRPr lang="en-US" sz="1080" dirty="0"/>
          </a:p>
        </p:txBody>
      </p:sp>
      <p:sp>
        <p:nvSpPr>
          <p:cNvPr id="14" name="Shape 12"/>
          <p:cNvSpPr/>
          <p:nvPr/>
        </p:nvSpPr>
        <p:spPr>
          <a:xfrm>
            <a:off x="548640" y="4764024"/>
            <a:ext cx="1417320" cy="329184"/>
          </a:xfrm>
          <a:prstGeom prst="roundRect">
            <a:avLst>
              <a:gd name="adj" fmla="val 50000"/>
            </a:avLst>
          </a:prstGeom>
          <a:solidFill>
            <a:srgbClr val="F96167"/>
          </a:solidFill>
          <a:ln/>
        </p:spPr>
      </p:sp>
      <p:sp>
        <p:nvSpPr>
          <p:cNvPr id="15" name="Text 13"/>
          <p:cNvSpPr txBox="1"/>
          <p:nvPr/>
        </p:nvSpPr>
        <p:spPr>
          <a:xfrm>
            <a:off x="548640" y="4764024"/>
            <a:ext cx="141732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Risk</a:t>
            </a:r>
            <a:endParaRPr lang="en-US" sz="1200" dirty="0"/>
          </a:p>
        </p:txBody>
      </p:sp>
      <p:sp>
        <p:nvSpPr>
          <p:cNvPr id="16" name="Text 14"/>
          <p:cNvSpPr txBox="1"/>
          <p:nvPr/>
        </p:nvSpPr>
        <p:spPr>
          <a:xfrm>
            <a:off x="2148840" y="4718304"/>
            <a:ext cx="3566160" cy="457200"/>
          </a:xfrm>
          <a:prstGeom prst="rect">
            <a:avLst/>
          </a:prstGeom>
          <a:noFill/>
          <a:ln/>
        </p:spPr>
        <p:txBody>
          <a:bodyPr wrap="square" lIns="0" tIns="0" rIns="0" bIns="0" rtlCol="0" anchor="ctr"/>
          <a:lstStyle/>
          <a:p>
            <a:pPr marL="0" indent="0">
              <a:lnSpc>
                <a:spcPct val="110000"/>
              </a:lnSpc>
              <a:buNone/>
            </a:pPr>
            <a:r>
              <a:rPr lang="en-US" sz="1080" dirty="0">
                <a:solidFill>
                  <a:srgbClr val="6B7280"/>
                </a:solidFill>
                <a:latin typeface="Calibri" pitchFamily="34" charset="0"/>
                <a:ea typeface="Calibri" pitchFamily="34" charset="-122"/>
                <a:cs typeface="Calibri" pitchFamily="34" charset="-120"/>
              </a:rPr>
              <a:t>Low Recency + High Frequency + High Monetary — big spenders gone quiet.</a:t>
            </a:r>
            <a:endParaRPr lang="en-US" sz="1080" dirty="0"/>
          </a:p>
        </p:txBody>
      </p:sp>
      <p:sp>
        <p:nvSpPr>
          <p:cNvPr id="17" name="Shape 15"/>
          <p:cNvSpPr/>
          <p:nvPr/>
        </p:nvSpPr>
        <p:spPr>
          <a:xfrm>
            <a:off x="5989320" y="1554480"/>
            <a:ext cx="5669280" cy="4297680"/>
          </a:xfrm>
          <a:prstGeom prst="roundRect">
            <a:avLst>
              <a:gd name="adj" fmla="val 1915"/>
            </a:avLst>
          </a:prstGeom>
          <a:solidFill>
            <a:srgbClr val="FFFFFF"/>
          </a:solidFill>
          <a:ln/>
          <a:effectLst>
            <a:outerShdw blurRad="127000" dist="38100" dir="5400000" algn="bl" rotWithShape="0">
              <a:srgbClr val="1B1F3B">
                <a:alpha val="18000"/>
              </a:srgbClr>
            </a:outerShdw>
          </a:effectLst>
        </p:spPr>
      </p:sp>
      <p:pic>
        <p:nvPicPr>
          <p:cNvPr id="18" name="Image 0" descr="/home/claude/assets/segmentation_logic.png"/>
          <p:cNvPicPr>
            <a:picLocks noChangeAspect="1"/>
          </p:cNvPicPr>
          <p:nvPr/>
        </p:nvPicPr>
        <p:blipFill>
          <a:blip r:embed="rId3"/>
          <a:stretch>
            <a:fillRect/>
          </a:stretch>
        </p:blipFill>
        <p:spPr>
          <a:xfrm>
            <a:off x="6104878" y="4641151"/>
            <a:ext cx="2520683" cy="904113"/>
          </a:xfrm>
          <a:prstGeom prst="rect">
            <a:avLst/>
          </a:prstGeom>
        </p:spPr>
      </p:pic>
      <p:sp>
        <p:nvSpPr>
          <p:cNvPr id="19" name="Text 16"/>
          <p:cNvSpPr txBox="1"/>
          <p:nvPr/>
        </p:nvSpPr>
        <p:spPr>
          <a:xfrm>
            <a:off x="5989320" y="5943600"/>
            <a:ext cx="5669280" cy="32004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Straight from the workbook: the live segmentation tool screenshot.</a:t>
            </a:r>
            <a:endParaRPr lang="en-US" sz="1050" dirty="0"/>
          </a:p>
        </p:txBody>
      </p:sp>
      <p:sp>
        <p:nvSpPr>
          <p:cNvPr id="20" name="Text 17"/>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04</a:t>
            </a:r>
            <a:endParaRPr lang="en-US" sz="1000" dirty="0"/>
          </a:p>
        </p:txBody>
      </p:sp>
      <p:pic>
        <p:nvPicPr>
          <p:cNvPr id="24" name="Picture 23">
            <a:extLst>
              <a:ext uri="{FF2B5EF4-FFF2-40B4-BE49-F238E27FC236}">
                <a16:creationId xmlns:a16="http://schemas.microsoft.com/office/drawing/2014/main" id="{4FDB97B5-C47E-048A-3002-86680079BEF9}"/>
              </a:ext>
            </a:extLst>
          </p:cNvPr>
          <p:cNvPicPr>
            <a:picLocks noChangeAspect="1"/>
          </p:cNvPicPr>
          <p:nvPr/>
        </p:nvPicPr>
        <p:blipFill>
          <a:blip r:embed="rId4"/>
          <a:stretch>
            <a:fillRect/>
          </a:stretch>
        </p:blipFill>
        <p:spPr>
          <a:xfrm>
            <a:off x="8741119" y="4425081"/>
            <a:ext cx="2917481" cy="1458740"/>
          </a:xfrm>
          <a:prstGeom prst="rect">
            <a:avLst/>
          </a:prstGeom>
        </p:spPr>
      </p:pic>
      <p:pic>
        <p:nvPicPr>
          <p:cNvPr id="26" name="Picture 25">
            <a:extLst>
              <a:ext uri="{FF2B5EF4-FFF2-40B4-BE49-F238E27FC236}">
                <a16:creationId xmlns:a16="http://schemas.microsoft.com/office/drawing/2014/main" id="{F57700DD-FDCC-C816-97DA-C3FD6C09C177}"/>
              </a:ext>
            </a:extLst>
          </p:cNvPr>
          <p:cNvPicPr>
            <a:picLocks noChangeAspect="1"/>
          </p:cNvPicPr>
          <p:nvPr/>
        </p:nvPicPr>
        <p:blipFill>
          <a:blip r:embed="rId5"/>
          <a:stretch>
            <a:fillRect/>
          </a:stretch>
        </p:blipFill>
        <p:spPr>
          <a:xfrm>
            <a:off x="6145335" y="1650746"/>
            <a:ext cx="5131960" cy="2755285"/>
          </a:xfrm>
          <a:prstGeom prst="rect">
            <a:avLst/>
          </a:prstGeom>
        </p:spPr>
      </p:pic>
      <p:sp>
        <p:nvSpPr>
          <p:cNvPr id="22" name="Text 18">
            <a:extLst>
              <a:ext uri="{FF2B5EF4-FFF2-40B4-BE49-F238E27FC236}">
                <a16:creationId xmlns:a16="http://schemas.microsoft.com/office/drawing/2014/main" id="{5AB1A348-0C5F-0FF1-513B-95094B419CA1}"/>
              </a:ext>
            </a:extLst>
          </p:cNvPr>
          <p:cNvSpPr txBox="1"/>
          <p:nvPr/>
        </p:nvSpPr>
        <p:spPr>
          <a:xfrm>
            <a:off x="6217920" y="466455"/>
            <a:ext cx="5212080" cy="777240"/>
          </a:xfrm>
          <a:prstGeom prst="rect">
            <a:avLst/>
          </a:prstGeom>
          <a:noFill/>
          <a:ln/>
        </p:spPr>
        <p:txBody>
          <a:bodyPr wrap="square" lIns="0" tIns="0" rIns="0" bIns="0" rtlCol="0" anchor="ctr"/>
          <a:lstStyle/>
          <a:p>
            <a:pPr algn="ctr"/>
            <a:r>
              <a:rPr lang="en-IN" sz="1200" b="1" i="1" dirty="0">
                <a:solidFill>
                  <a:srgbClr val="6B7280"/>
                </a:solidFill>
                <a:latin typeface="Calibri" pitchFamily="34" charset="0"/>
                <a:ea typeface="Calibri" pitchFamily="34" charset="-122"/>
                <a:cs typeface="Calibri" pitchFamily="34" charset="-120"/>
              </a:rPr>
              <a:t>Download Excel Project File: </a:t>
            </a:r>
            <a:r>
              <a:rPr lang="en-IN" sz="1200" b="1" i="1" dirty="0">
                <a:solidFill>
                  <a:srgbClr val="6B7280"/>
                </a:solidFill>
                <a:latin typeface="Calibri" pitchFamily="34" charset="0"/>
                <a:ea typeface="Calibri" pitchFamily="34" charset="-122"/>
                <a:cs typeface="Calibri" pitchFamily="34" charset="-120"/>
                <a:hlinkClick r:id="rId6"/>
              </a:rPr>
              <a:t>GitHub Link</a:t>
            </a:r>
            <a:endParaRPr lang="en-US" sz="12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576072" y="685800"/>
            <a:ext cx="420624" cy="420624"/>
          </a:xfrm>
          <a:prstGeom prst="ellipse">
            <a:avLst/>
          </a:prstGeom>
          <a:solidFill>
            <a:srgbClr val="F96167"/>
          </a:solidFill>
          <a:ln/>
        </p:spPr>
      </p:sp>
      <p:sp>
        <p:nvSpPr>
          <p:cNvPr id="3" name="Text 1"/>
          <p:cNvSpPr txBox="1"/>
          <p:nvPr/>
        </p:nvSpPr>
        <p:spPr>
          <a:xfrm>
            <a:off x="12344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SEGMENT IN ACTION: AT RISK</a:t>
            </a:r>
            <a:endParaRPr lang="en-US" sz="1200" dirty="0"/>
          </a:p>
        </p:txBody>
      </p:sp>
      <p:sp>
        <p:nvSpPr>
          <p:cNvPr id="4" name="Text 2"/>
          <p:cNvSpPr txBox="1"/>
          <p:nvPr/>
        </p:nvSpPr>
        <p:spPr>
          <a:xfrm>
            <a:off x="1234440" y="640080"/>
            <a:ext cx="10058400" cy="640080"/>
          </a:xfrm>
          <a:prstGeom prst="rect">
            <a:avLst/>
          </a:prstGeom>
          <a:noFill/>
          <a:ln/>
        </p:spPr>
        <p:txBody>
          <a:bodyPr wrap="square" lIns="0" tIns="0" rIns="0" bIns="0" rtlCol="0" anchor="ctr"/>
          <a:lstStyle/>
          <a:p>
            <a:pPr marL="0" indent="0">
              <a:buNone/>
            </a:pPr>
            <a:r>
              <a:rPr lang="en-US" sz="2700" b="1" dirty="0">
                <a:solidFill>
                  <a:srgbClr val="23263B"/>
                </a:solidFill>
                <a:latin typeface="Cambria" pitchFamily="34" charset="0"/>
                <a:ea typeface="Cambria" pitchFamily="34" charset="-122"/>
                <a:cs typeface="Cambria" pitchFamily="34" charset="-120"/>
              </a:rPr>
              <a:t>Use Case: Finding Revenue at Risk</a:t>
            </a:r>
            <a:endParaRPr lang="en-US" sz="2700" dirty="0"/>
          </a:p>
        </p:txBody>
      </p:sp>
      <p:sp>
        <p:nvSpPr>
          <p:cNvPr id="5" name="Text 3"/>
          <p:cNvSpPr txBox="1"/>
          <p:nvPr/>
        </p:nvSpPr>
        <p:spPr>
          <a:xfrm>
            <a:off x="548640" y="1600200"/>
            <a:ext cx="5029200" cy="1051560"/>
          </a:xfrm>
          <a:prstGeom prst="rect">
            <a:avLst/>
          </a:prstGeom>
          <a:noFill/>
          <a:ln/>
        </p:spPr>
        <p:txBody>
          <a:bodyPr wrap="square" lIns="0" tIns="0" rIns="0" bIns="0" rtlCol="0" anchor="ctr"/>
          <a:lstStyle/>
          <a:p>
            <a:pPr>
              <a:lnSpc>
                <a:spcPct val="130000"/>
              </a:lnSpc>
            </a:pPr>
            <a:r>
              <a:rPr lang="en-US" sz="1300" dirty="0">
                <a:solidFill>
                  <a:srgbClr val="23263B"/>
                </a:solidFill>
                <a:latin typeface="Calibri" pitchFamily="34" charset="0"/>
                <a:ea typeface="Calibri" pitchFamily="34" charset="-122"/>
                <a:cs typeface="Calibri" pitchFamily="34" charset="-120"/>
              </a:rPr>
              <a:t>Using the slicer, you will see a list of customers at risk. These are customers that </a:t>
            </a:r>
            <a:r>
              <a:rPr lang="en-US" sz="1300" b="1" dirty="0">
                <a:solidFill>
                  <a:srgbClr val="23263B"/>
                </a:solidFill>
                <a:latin typeface="Calibri" pitchFamily="34" charset="0"/>
                <a:ea typeface="Calibri" pitchFamily="34" charset="-122"/>
                <a:cs typeface="Calibri" pitchFamily="34" charset="-120"/>
              </a:rPr>
              <a:t>used to spend a lot but have now gone quiet</a:t>
            </a:r>
            <a:r>
              <a:rPr lang="en-US" sz="1300" dirty="0">
                <a:solidFill>
                  <a:srgbClr val="23263B"/>
                </a:solidFill>
                <a:latin typeface="Calibri" pitchFamily="34" charset="0"/>
                <a:ea typeface="Calibri" pitchFamily="34" charset="-122"/>
                <a:cs typeface="Calibri" pitchFamily="34" charset="-120"/>
              </a:rPr>
              <a:t>. The results are sorted by the total revenue column and top ten values are highlighted. This data can be used by marketing and retention teams.</a:t>
            </a:r>
            <a:endParaRPr lang="en-US" sz="1300" dirty="0"/>
          </a:p>
        </p:txBody>
      </p:sp>
      <p:sp>
        <p:nvSpPr>
          <p:cNvPr id="6" name="Text 4"/>
          <p:cNvSpPr txBox="1"/>
          <p:nvPr/>
        </p:nvSpPr>
        <p:spPr>
          <a:xfrm>
            <a:off x="548640" y="2788920"/>
            <a:ext cx="1463040" cy="457200"/>
          </a:xfrm>
          <a:prstGeom prst="rect">
            <a:avLst/>
          </a:prstGeom>
          <a:noFill/>
          <a:ln/>
        </p:spPr>
        <p:txBody>
          <a:bodyPr wrap="square" lIns="0" tIns="0" rIns="0" bIns="0" rtlCol="0" anchor="ctr"/>
          <a:lstStyle/>
          <a:p>
            <a:pPr marL="0" indent="0">
              <a:buNone/>
            </a:pPr>
            <a:r>
              <a:rPr lang="en-US" sz="2200" b="1" dirty="0">
                <a:solidFill>
                  <a:srgbClr val="F96167"/>
                </a:solidFill>
                <a:latin typeface="Cambria" pitchFamily="34" charset="0"/>
                <a:ea typeface="Cambria" pitchFamily="34" charset="-122"/>
                <a:cs typeface="Cambria" pitchFamily="34" charset="-120"/>
              </a:rPr>
              <a:t>34</a:t>
            </a:r>
            <a:endParaRPr lang="en-US" sz="2200" dirty="0"/>
          </a:p>
        </p:txBody>
      </p:sp>
      <p:sp>
        <p:nvSpPr>
          <p:cNvPr id="7" name="Text 5"/>
          <p:cNvSpPr txBox="1"/>
          <p:nvPr/>
        </p:nvSpPr>
        <p:spPr>
          <a:xfrm>
            <a:off x="2057400" y="2825496"/>
            <a:ext cx="3566160" cy="45720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at-risk customers identified</a:t>
            </a:r>
            <a:endParaRPr lang="en-US" sz="1150" dirty="0"/>
          </a:p>
        </p:txBody>
      </p:sp>
      <p:sp>
        <p:nvSpPr>
          <p:cNvPr id="8" name="Text 6"/>
          <p:cNvSpPr txBox="1"/>
          <p:nvPr/>
        </p:nvSpPr>
        <p:spPr>
          <a:xfrm>
            <a:off x="548640" y="3410712"/>
            <a:ext cx="1463040" cy="457200"/>
          </a:xfrm>
          <a:prstGeom prst="rect">
            <a:avLst/>
          </a:prstGeom>
          <a:noFill/>
          <a:ln/>
        </p:spPr>
        <p:txBody>
          <a:bodyPr wrap="square" lIns="0" tIns="0" rIns="0" bIns="0" rtlCol="0" anchor="ctr"/>
          <a:lstStyle/>
          <a:p>
            <a:pPr marL="0" indent="0">
              <a:buNone/>
            </a:pPr>
            <a:r>
              <a:rPr lang="en-US" sz="2200" b="1" dirty="0">
                <a:solidFill>
                  <a:srgbClr val="F96167"/>
                </a:solidFill>
                <a:latin typeface="Cambria" pitchFamily="34" charset="0"/>
                <a:ea typeface="Cambria" pitchFamily="34" charset="-122"/>
                <a:cs typeface="Cambria" pitchFamily="34" charset="-120"/>
              </a:rPr>
              <a:t>£699K</a:t>
            </a:r>
            <a:endParaRPr lang="en-US" sz="2200" dirty="0"/>
          </a:p>
        </p:txBody>
      </p:sp>
      <p:sp>
        <p:nvSpPr>
          <p:cNvPr id="9" name="Text 7"/>
          <p:cNvSpPr txBox="1"/>
          <p:nvPr/>
        </p:nvSpPr>
        <p:spPr>
          <a:xfrm>
            <a:off x="2057400" y="3447288"/>
            <a:ext cx="3566160" cy="45720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combined revenue exposure</a:t>
            </a:r>
            <a:endParaRPr lang="en-US" sz="1150" dirty="0"/>
          </a:p>
        </p:txBody>
      </p:sp>
      <p:sp>
        <p:nvSpPr>
          <p:cNvPr id="10" name="Text 8"/>
          <p:cNvSpPr txBox="1"/>
          <p:nvPr/>
        </p:nvSpPr>
        <p:spPr>
          <a:xfrm>
            <a:off x="548640" y="4032504"/>
            <a:ext cx="1463040" cy="457200"/>
          </a:xfrm>
          <a:prstGeom prst="rect">
            <a:avLst/>
          </a:prstGeom>
          <a:noFill/>
          <a:ln/>
        </p:spPr>
        <p:txBody>
          <a:bodyPr wrap="square" lIns="0" tIns="0" rIns="0" bIns="0" rtlCol="0" anchor="ctr"/>
          <a:lstStyle/>
          <a:p>
            <a:pPr marL="0" indent="0">
              <a:buNone/>
            </a:pPr>
            <a:r>
              <a:rPr lang="en-US" sz="2200" b="1" dirty="0">
                <a:solidFill>
                  <a:srgbClr val="F96167"/>
                </a:solidFill>
                <a:latin typeface="Cambria" pitchFamily="34" charset="0"/>
                <a:ea typeface="Cambria" pitchFamily="34" charset="-122"/>
                <a:cs typeface="Cambria" pitchFamily="34" charset="-120"/>
              </a:rPr>
              <a:t>£20.6K</a:t>
            </a:r>
            <a:endParaRPr lang="en-US" sz="2200" dirty="0"/>
          </a:p>
        </p:txBody>
      </p:sp>
      <p:sp>
        <p:nvSpPr>
          <p:cNvPr id="11" name="Text 9"/>
          <p:cNvSpPr txBox="1"/>
          <p:nvPr/>
        </p:nvSpPr>
        <p:spPr>
          <a:xfrm>
            <a:off x="2057400" y="4069080"/>
            <a:ext cx="3566160" cy="45720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avg. value per customer — 57% above the typical customer</a:t>
            </a:r>
            <a:endParaRPr lang="en-US" sz="1150" dirty="0"/>
          </a:p>
        </p:txBody>
      </p:sp>
      <p:sp>
        <p:nvSpPr>
          <p:cNvPr id="12" name="Text 10"/>
          <p:cNvSpPr txBox="1"/>
          <p:nvPr/>
        </p:nvSpPr>
        <p:spPr>
          <a:xfrm>
            <a:off x="548640" y="4654296"/>
            <a:ext cx="1463040" cy="457200"/>
          </a:xfrm>
          <a:prstGeom prst="rect">
            <a:avLst/>
          </a:prstGeom>
          <a:noFill/>
          <a:ln/>
        </p:spPr>
        <p:txBody>
          <a:bodyPr wrap="square" lIns="0" tIns="0" rIns="0" bIns="0" rtlCol="0" anchor="ctr"/>
          <a:lstStyle/>
          <a:p>
            <a:pPr marL="0" indent="0">
              <a:buNone/>
            </a:pPr>
            <a:r>
              <a:rPr lang="en-US" sz="2200" b="1" dirty="0">
                <a:solidFill>
                  <a:srgbClr val="F96167"/>
                </a:solidFill>
                <a:latin typeface="Cambria" pitchFamily="34" charset="0"/>
                <a:ea typeface="Cambria" pitchFamily="34" charset="-122"/>
                <a:cs typeface="Cambria" pitchFamily="34" charset="-120"/>
              </a:rPr>
              <a:t>~230 days</a:t>
            </a:r>
            <a:endParaRPr lang="en-US" sz="2200" dirty="0"/>
          </a:p>
        </p:txBody>
      </p:sp>
      <p:sp>
        <p:nvSpPr>
          <p:cNvPr id="13" name="Text 11"/>
          <p:cNvSpPr txBox="1"/>
          <p:nvPr/>
        </p:nvSpPr>
        <p:spPr>
          <a:xfrm>
            <a:off x="2057400" y="4690872"/>
            <a:ext cx="3566160" cy="45720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average time since their last order</a:t>
            </a:r>
            <a:endParaRPr lang="en-US" sz="1150" dirty="0"/>
          </a:p>
        </p:txBody>
      </p:sp>
      <p:sp>
        <p:nvSpPr>
          <p:cNvPr id="14" name="Shape 12"/>
          <p:cNvSpPr/>
          <p:nvPr/>
        </p:nvSpPr>
        <p:spPr>
          <a:xfrm>
            <a:off x="5989320" y="1600200"/>
            <a:ext cx="5669280" cy="3886200"/>
          </a:xfrm>
          <a:prstGeom prst="roundRect">
            <a:avLst>
              <a:gd name="adj" fmla="val 2118"/>
            </a:avLst>
          </a:prstGeom>
          <a:solidFill>
            <a:srgbClr val="FFFFFF"/>
          </a:solidFill>
          <a:ln/>
          <a:effectLst>
            <a:outerShdw blurRad="127000" dist="38100" dir="5400000" algn="bl" rotWithShape="0">
              <a:srgbClr val="1B1F3B">
                <a:alpha val="18000"/>
              </a:srgbClr>
            </a:outerShdw>
          </a:effectLst>
        </p:spPr>
      </p:sp>
      <p:sp>
        <p:nvSpPr>
          <p:cNvPr id="16" name="Shape 13"/>
          <p:cNvSpPr/>
          <p:nvPr/>
        </p:nvSpPr>
        <p:spPr>
          <a:xfrm>
            <a:off x="548640" y="5989320"/>
            <a:ext cx="11109960" cy="566928"/>
          </a:xfrm>
          <a:prstGeom prst="roundRect">
            <a:avLst>
              <a:gd name="adj" fmla="val 12903"/>
            </a:avLst>
          </a:prstGeom>
          <a:solidFill>
            <a:srgbClr val="2F3C7E"/>
          </a:solidFill>
          <a:ln/>
        </p:spPr>
      </p:sp>
      <p:sp>
        <p:nvSpPr>
          <p:cNvPr id="17" name="Text 14"/>
          <p:cNvSpPr txBox="1"/>
          <p:nvPr/>
        </p:nvSpPr>
        <p:spPr>
          <a:xfrm>
            <a:off x="777240" y="5989320"/>
            <a:ext cx="10652760" cy="56692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These are historically high-frequency, high-spend customers who've gone quiet: a ready-made target list for a win-back campaign.</a:t>
            </a:r>
            <a:endParaRPr lang="en-US" sz="1250" dirty="0"/>
          </a:p>
        </p:txBody>
      </p:sp>
      <p:sp>
        <p:nvSpPr>
          <p:cNvPr id="18" name="Text 15"/>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05</a:t>
            </a:r>
            <a:endParaRPr lang="en-US" sz="1000" dirty="0"/>
          </a:p>
        </p:txBody>
      </p:sp>
      <p:pic>
        <p:nvPicPr>
          <p:cNvPr id="22" name="Picture 21">
            <a:extLst>
              <a:ext uri="{FF2B5EF4-FFF2-40B4-BE49-F238E27FC236}">
                <a16:creationId xmlns:a16="http://schemas.microsoft.com/office/drawing/2014/main" id="{3A82090A-51BD-7AD6-FCB8-C5322A027C5C}"/>
              </a:ext>
            </a:extLst>
          </p:cNvPr>
          <p:cNvPicPr>
            <a:picLocks noChangeAspect="1"/>
          </p:cNvPicPr>
          <p:nvPr/>
        </p:nvPicPr>
        <p:blipFill>
          <a:blip r:embed="rId3"/>
          <a:stretch>
            <a:fillRect/>
          </a:stretch>
        </p:blipFill>
        <p:spPr>
          <a:xfrm>
            <a:off x="6314621" y="1645920"/>
            <a:ext cx="5018678" cy="37307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REVENUE CONCENTRATION</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Small Segments, Outsized Impact</a:t>
            </a:r>
            <a:endParaRPr lang="en-US" sz="3200" dirty="0"/>
          </a:p>
        </p:txBody>
      </p:sp>
      <p:sp>
        <p:nvSpPr>
          <p:cNvPr id="5" name="Shape 2"/>
          <p:cNvSpPr/>
          <p:nvPr/>
        </p:nvSpPr>
        <p:spPr>
          <a:xfrm>
            <a:off x="7863840" y="1508760"/>
            <a:ext cx="3794760" cy="4480560"/>
          </a:xfrm>
          <a:prstGeom prst="roundRect">
            <a:avLst>
              <a:gd name="adj" fmla="val 2169"/>
            </a:avLst>
          </a:prstGeom>
          <a:solidFill>
            <a:srgbClr val="FFFFFF"/>
          </a:solidFill>
          <a:ln/>
          <a:effectLst>
            <a:outerShdw blurRad="127000" dist="38100" dir="5400000" algn="bl" rotWithShape="0">
              <a:srgbClr val="1B1F3B">
                <a:alpha val="18000"/>
              </a:srgbClr>
            </a:outerShdw>
          </a:effectLst>
        </p:spPr>
      </p:sp>
      <p:sp>
        <p:nvSpPr>
          <p:cNvPr id="6" name="Text 3"/>
          <p:cNvSpPr txBox="1"/>
          <p:nvPr/>
        </p:nvSpPr>
        <p:spPr>
          <a:xfrm>
            <a:off x="8138160" y="1783080"/>
            <a:ext cx="3291840" cy="365760"/>
          </a:xfrm>
          <a:prstGeom prst="rect">
            <a:avLst/>
          </a:prstGeom>
          <a:noFill/>
          <a:ln/>
        </p:spPr>
        <p:txBody>
          <a:bodyPr wrap="square" lIns="0" tIns="0" rIns="0" bIns="0" rtlCol="0" anchor="ctr"/>
          <a:lstStyle/>
          <a:p>
            <a:pPr marL="0" indent="0" algn="ctr">
              <a:buNone/>
            </a:pPr>
            <a:r>
              <a:rPr lang="en-US" sz="1500" b="1" dirty="0">
                <a:solidFill>
                  <a:srgbClr val="2F3C7E"/>
                </a:solidFill>
                <a:latin typeface="Cambria" pitchFamily="34" charset="0"/>
                <a:ea typeface="Cambria" pitchFamily="34" charset="-122"/>
                <a:cs typeface="Cambria" pitchFamily="34" charset="-120"/>
              </a:rPr>
              <a:t>Why it matters</a:t>
            </a:r>
            <a:endParaRPr lang="en-US" sz="1500" dirty="0"/>
          </a:p>
        </p:txBody>
      </p:sp>
      <p:sp>
        <p:nvSpPr>
          <p:cNvPr id="7" name="Text 4"/>
          <p:cNvSpPr txBox="1"/>
          <p:nvPr/>
        </p:nvSpPr>
        <p:spPr>
          <a:xfrm>
            <a:off x="8138160" y="2194560"/>
            <a:ext cx="3291840" cy="3566160"/>
          </a:xfrm>
          <a:prstGeom prst="rect">
            <a:avLst/>
          </a:prstGeom>
          <a:noFill/>
          <a:ln/>
        </p:spPr>
        <p:txBody>
          <a:bodyPr wrap="square" lIns="0" tIns="0" rIns="0" bIns="0" rtlCol="0" anchor="ctr"/>
          <a:lstStyle/>
          <a:p>
            <a:pPr>
              <a:lnSpc>
                <a:spcPct val="125000"/>
              </a:lnSpc>
            </a:pPr>
            <a:r>
              <a:rPr lang="en-US" sz="1400" b="1" dirty="0">
                <a:solidFill>
                  <a:srgbClr val="2F3C7E"/>
                </a:solidFill>
                <a:latin typeface="Calibri" pitchFamily="34" charset="0"/>
                <a:ea typeface="Calibri" pitchFamily="34" charset="-122"/>
                <a:cs typeface="Calibri" pitchFamily="34" charset="-120"/>
              </a:rPr>
              <a:t>Champions </a:t>
            </a:r>
            <a:r>
              <a:rPr lang="en-US" sz="1400" dirty="0">
                <a:solidFill>
                  <a:srgbClr val="23263B"/>
                </a:solidFill>
                <a:latin typeface="Calibri" pitchFamily="34" charset="0"/>
                <a:ea typeface="Calibri" pitchFamily="34" charset="-122"/>
                <a:cs typeface="Calibri" pitchFamily="34" charset="-120"/>
              </a:rPr>
              <a:t>are just 8% of customers but 42% of revenue: value them first.
</a:t>
            </a:r>
            <a:r>
              <a:rPr lang="en-US" sz="1400" b="1" dirty="0">
                <a:solidFill>
                  <a:srgbClr val="2F3C7E"/>
                </a:solidFill>
                <a:latin typeface="Calibri" pitchFamily="34" charset="0"/>
                <a:ea typeface="Calibri" pitchFamily="34" charset="-122"/>
                <a:cs typeface="Calibri" pitchFamily="34" charset="-120"/>
              </a:rPr>
              <a:t>Not Segmented </a:t>
            </a:r>
            <a:r>
              <a:rPr lang="en-US" sz="1400" dirty="0">
                <a:solidFill>
                  <a:srgbClr val="2F3C7E"/>
                </a:solidFill>
                <a:latin typeface="Calibri" pitchFamily="34" charset="0"/>
                <a:ea typeface="Calibri" pitchFamily="34" charset="-122"/>
                <a:cs typeface="Calibri" pitchFamily="34" charset="-120"/>
              </a:rPr>
              <a:t>are</a:t>
            </a:r>
            <a:r>
              <a:rPr lang="en-US" sz="1400" b="1" dirty="0">
                <a:solidFill>
                  <a:srgbClr val="2F3C7E"/>
                </a:solidFill>
                <a:latin typeface="Calibri" pitchFamily="34" charset="0"/>
                <a:ea typeface="Calibri" pitchFamily="34" charset="-122"/>
                <a:cs typeface="Calibri" pitchFamily="34" charset="-120"/>
              </a:rPr>
              <a:t> </a:t>
            </a:r>
            <a:r>
              <a:rPr lang="en-US" sz="1400" dirty="0">
                <a:solidFill>
                  <a:srgbClr val="23263B"/>
                </a:solidFill>
                <a:latin typeface="Calibri" pitchFamily="34" charset="0"/>
                <a:ea typeface="Calibri" pitchFamily="34" charset="-122"/>
                <a:cs typeface="Calibri" pitchFamily="34" charset="-120"/>
              </a:rPr>
              <a:t>left out customers which can be segmented further using RFM, as per need.
</a:t>
            </a:r>
            <a:r>
              <a:rPr lang="en-US" sz="1400" b="1" dirty="0">
                <a:solidFill>
                  <a:srgbClr val="2F3C7E"/>
                </a:solidFill>
                <a:latin typeface="Calibri" pitchFamily="34" charset="0"/>
                <a:ea typeface="Calibri" pitchFamily="34" charset="-122"/>
                <a:cs typeface="Calibri" pitchFamily="34" charset="-120"/>
              </a:rPr>
              <a:t>Potential &amp; At Risk </a:t>
            </a:r>
            <a:r>
              <a:rPr lang="en-US" sz="1400" dirty="0">
                <a:solidFill>
                  <a:srgbClr val="23263B"/>
                </a:solidFill>
                <a:latin typeface="Calibri" pitchFamily="34" charset="0"/>
                <a:ea typeface="Calibri" pitchFamily="34" charset="-122"/>
                <a:cs typeface="Calibri" pitchFamily="34" charset="-120"/>
              </a:rPr>
              <a:t>are small in number, but the clearest growth and retention levers on the board.</a:t>
            </a:r>
            <a:endParaRPr lang="en-US" sz="1400" dirty="0"/>
          </a:p>
        </p:txBody>
      </p:sp>
      <p:sp>
        <p:nvSpPr>
          <p:cNvPr id="8" name="Text 5"/>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06</a:t>
            </a:r>
            <a:endParaRPr lang="en-US" sz="1000" dirty="0"/>
          </a:p>
        </p:txBody>
      </p:sp>
      <p:graphicFrame>
        <p:nvGraphicFramePr>
          <p:cNvPr id="4" name="Chart 3">
            <a:extLst>
              <a:ext uri="{FF2B5EF4-FFF2-40B4-BE49-F238E27FC236}">
                <a16:creationId xmlns:a16="http://schemas.microsoft.com/office/drawing/2014/main" id="{D9293999-C804-C166-A035-BBC5DD0F432F}"/>
              </a:ext>
            </a:extLst>
          </p:cNvPr>
          <p:cNvGraphicFramePr>
            <a:graphicFrameLocks/>
          </p:cNvGraphicFramePr>
          <p:nvPr>
            <p:extLst>
              <p:ext uri="{D42A27DB-BD31-4B8C-83A1-F6EECF244321}">
                <p14:modId xmlns:p14="http://schemas.microsoft.com/office/powerpoint/2010/main" val="3138350268"/>
              </p:ext>
            </p:extLst>
          </p:nvPr>
        </p:nvGraphicFramePr>
        <p:xfrm>
          <a:off x="87084" y="1504738"/>
          <a:ext cx="7548155" cy="517038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SEASONALITY</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The Quarter 4 Surge</a:t>
            </a:r>
            <a:endParaRPr lang="en-US" sz="3200" dirty="0"/>
          </a:p>
        </p:txBody>
      </p:sp>
      <p:sp>
        <p:nvSpPr>
          <p:cNvPr id="4" name="Shape 2"/>
          <p:cNvSpPr/>
          <p:nvPr/>
        </p:nvSpPr>
        <p:spPr>
          <a:xfrm>
            <a:off x="548640" y="1508760"/>
            <a:ext cx="7223760" cy="4434840"/>
          </a:xfrm>
          <a:prstGeom prst="roundRect">
            <a:avLst>
              <a:gd name="adj" fmla="val 1856"/>
            </a:avLst>
          </a:prstGeom>
          <a:solidFill>
            <a:srgbClr val="FFFFFF"/>
          </a:solidFill>
          <a:ln/>
          <a:effectLst>
            <a:outerShdw blurRad="127000" dist="38100" dir="5400000" algn="bl" rotWithShape="0">
              <a:srgbClr val="1B1F3B">
                <a:alpha val="18000"/>
              </a:srgbClr>
            </a:outerShdw>
          </a:effectLst>
        </p:spPr>
      </p:sp>
      <p:sp>
        <p:nvSpPr>
          <p:cNvPr id="6" name="Shape 3"/>
          <p:cNvSpPr/>
          <p:nvPr/>
        </p:nvSpPr>
        <p:spPr>
          <a:xfrm>
            <a:off x="8001000" y="1508760"/>
            <a:ext cx="3657600" cy="4434840"/>
          </a:xfrm>
          <a:prstGeom prst="roundRect">
            <a:avLst>
              <a:gd name="adj" fmla="val 2250"/>
            </a:avLst>
          </a:prstGeom>
          <a:solidFill>
            <a:srgbClr val="FFFFFF"/>
          </a:solidFill>
          <a:ln/>
          <a:effectLst>
            <a:outerShdw blurRad="127000" dist="38100" dir="5400000" algn="bl" rotWithShape="0">
              <a:srgbClr val="1B1F3B">
                <a:alpha val="18000"/>
              </a:srgbClr>
            </a:outerShdw>
          </a:effectLst>
        </p:spPr>
      </p:sp>
      <p:sp>
        <p:nvSpPr>
          <p:cNvPr id="8" name="Shape 4"/>
          <p:cNvSpPr/>
          <p:nvPr/>
        </p:nvSpPr>
        <p:spPr>
          <a:xfrm>
            <a:off x="548640" y="6080760"/>
            <a:ext cx="11109960" cy="566928"/>
          </a:xfrm>
          <a:prstGeom prst="roundRect">
            <a:avLst>
              <a:gd name="adj" fmla="val 12903"/>
            </a:avLst>
          </a:prstGeom>
          <a:solidFill>
            <a:srgbClr val="2F3C7E"/>
          </a:solidFill>
          <a:ln/>
        </p:spPr>
      </p:sp>
      <p:sp>
        <p:nvSpPr>
          <p:cNvPr id="9" name="Text 5"/>
          <p:cNvSpPr txBox="1"/>
          <p:nvPr/>
        </p:nvSpPr>
        <p:spPr>
          <a:xfrm>
            <a:off x="777240" y="6080760"/>
            <a:ext cx="1065276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Q4 alone brings in £21.5M (35% of annual revenue) and 8,262 transactions (36% of annual volume): November is the single biggest month at £7.94M. This can help prepare for future surges in Q4.</a:t>
            </a:r>
            <a:endParaRPr lang="en-US" sz="1200" dirty="0"/>
          </a:p>
        </p:txBody>
      </p:sp>
      <p:sp>
        <p:nvSpPr>
          <p:cNvPr id="10" name="Text 6"/>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07</a:t>
            </a:r>
            <a:endParaRPr lang="en-US" sz="1000" dirty="0"/>
          </a:p>
        </p:txBody>
      </p:sp>
      <p:pic>
        <p:nvPicPr>
          <p:cNvPr id="14" name="Picture 13">
            <a:extLst>
              <a:ext uri="{FF2B5EF4-FFF2-40B4-BE49-F238E27FC236}">
                <a16:creationId xmlns:a16="http://schemas.microsoft.com/office/drawing/2014/main" id="{CB63BB86-C6C1-36A7-7B29-CD209242AE3C}"/>
              </a:ext>
            </a:extLst>
          </p:cNvPr>
          <p:cNvPicPr>
            <a:picLocks noChangeAspect="1"/>
          </p:cNvPicPr>
          <p:nvPr/>
        </p:nvPicPr>
        <p:blipFill>
          <a:blip r:embed="rId3"/>
          <a:stretch>
            <a:fillRect/>
          </a:stretch>
        </p:blipFill>
        <p:spPr>
          <a:xfrm>
            <a:off x="8632046" y="2041609"/>
            <a:ext cx="2358684" cy="3449019"/>
          </a:xfrm>
          <a:prstGeom prst="rect">
            <a:avLst/>
          </a:prstGeom>
        </p:spPr>
      </p:pic>
      <p:graphicFrame>
        <p:nvGraphicFramePr>
          <p:cNvPr id="5" name="Chart 4">
            <a:extLst>
              <a:ext uri="{FF2B5EF4-FFF2-40B4-BE49-F238E27FC236}">
                <a16:creationId xmlns:a16="http://schemas.microsoft.com/office/drawing/2014/main" id="{3444E4AE-DB9A-D51D-3309-DE125D836B8B}"/>
              </a:ext>
            </a:extLst>
          </p:cNvPr>
          <p:cNvGraphicFramePr>
            <a:graphicFrameLocks/>
          </p:cNvGraphicFramePr>
          <p:nvPr>
            <p:extLst>
              <p:ext uri="{D42A27DB-BD31-4B8C-83A1-F6EECF244321}">
                <p14:modId xmlns:p14="http://schemas.microsoft.com/office/powerpoint/2010/main" val="4188992874"/>
              </p:ext>
            </p:extLst>
          </p:nvPr>
        </p:nvGraphicFramePr>
        <p:xfrm>
          <a:off x="682628" y="1545337"/>
          <a:ext cx="7047224" cy="431117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PRODUCT PERFORMANCE</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What's Actually Selling</a:t>
            </a:r>
            <a:endParaRPr lang="en-US" sz="3200" dirty="0"/>
          </a:p>
        </p:txBody>
      </p:sp>
      <p:sp>
        <p:nvSpPr>
          <p:cNvPr id="4" name="Shape 2"/>
          <p:cNvSpPr/>
          <p:nvPr/>
        </p:nvSpPr>
        <p:spPr>
          <a:xfrm>
            <a:off x="548640" y="1508760"/>
            <a:ext cx="5577840" cy="3977640"/>
          </a:xfrm>
          <a:prstGeom prst="roundRect">
            <a:avLst>
              <a:gd name="adj" fmla="val 2069"/>
            </a:avLst>
          </a:prstGeom>
          <a:solidFill>
            <a:srgbClr val="FFFFFF"/>
          </a:solidFill>
          <a:ln/>
          <a:effectLst>
            <a:outerShdw blurRad="127000" dist="38100" dir="5400000" algn="bl" rotWithShape="0">
              <a:srgbClr val="1B1F3B">
                <a:alpha val="18000"/>
              </a:srgbClr>
            </a:outerShdw>
          </a:effectLst>
        </p:spPr>
      </p:sp>
      <p:sp>
        <p:nvSpPr>
          <p:cNvPr id="6" name="Shape 3"/>
          <p:cNvSpPr/>
          <p:nvPr/>
        </p:nvSpPr>
        <p:spPr>
          <a:xfrm>
            <a:off x="6309360" y="1508760"/>
            <a:ext cx="5349240" cy="3977640"/>
          </a:xfrm>
          <a:prstGeom prst="roundRect">
            <a:avLst>
              <a:gd name="adj" fmla="val 2069"/>
            </a:avLst>
          </a:prstGeom>
          <a:solidFill>
            <a:srgbClr val="FFFFFF"/>
          </a:solidFill>
          <a:ln/>
          <a:effectLst>
            <a:outerShdw blurRad="127000" dist="38100" dir="5400000" algn="bl" rotWithShape="0">
              <a:srgbClr val="1B1F3B">
                <a:alpha val="18000"/>
              </a:srgbClr>
            </a:outerShdw>
          </a:effectLst>
        </p:spPr>
      </p:sp>
      <p:sp>
        <p:nvSpPr>
          <p:cNvPr id="8" name="Shape 4"/>
          <p:cNvSpPr/>
          <p:nvPr/>
        </p:nvSpPr>
        <p:spPr>
          <a:xfrm>
            <a:off x="548640" y="5669280"/>
            <a:ext cx="11109960" cy="566928"/>
          </a:xfrm>
          <a:prstGeom prst="roundRect">
            <a:avLst>
              <a:gd name="adj" fmla="val 12903"/>
            </a:avLst>
          </a:prstGeom>
          <a:solidFill>
            <a:srgbClr val="2F3C7E"/>
          </a:solidFill>
          <a:ln/>
        </p:spPr>
      </p:sp>
      <p:sp>
        <p:nvSpPr>
          <p:cNvPr id="9" name="Text 5"/>
          <p:cNvSpPr txBox="1"/>
          <p:nvPr/>
        </p:nvSpPr>
        <p:spPr>
          <a:xfrm>
            <a:off x="777240" y="5669280"/>
            <a:ext cx="10652760" cy="56692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Popcorn Holder tops both charts: highest revenue (£591K) and highest volume (57K units). But the top 10 products combined are only 6.5% of total revenue: this is a long-tail catalog, not a hits-driven one.</a:t>
            </a:r>
            <a:endParaRPr lang="en-US" sz="1250" dirty="0"/>
          </a:p>
        </p:txBody>
      </p:sp>
      <p:sp>
        <p:nvSpPr>
          <p:cNvPr id="10" name="Text 6"/>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08</a:t>
            </a:r>
            <a:endParaRPr lang="en-US" sz="1000" dirty="0"/>
          </a:p>
        </p:txBody>
      </p:sp>
      <p:graphicFrame>
        <p:nvGraphicFramePr>
          <p:cNvPr id="5" name="Chart 4">
            <a:extLst>
              <a:ext uri="{FF2B5EF4-FFF2-40B4-BE49-F238E27FC236}">
                <a16:creationId xmlns:a16="http://schemas.microsoft.com/office/drawing/2014/main" id="{E9321031-3D18-91C4-C1D2-A426C0BB3E0B}"/>
              </a:ext>
            </a:extLst>
          </p:cNvPr>
          <p:cNvGraphicFramePr>
            <a:graphicFrameLocks/>
          </p:cNvGraphicFramePr>
          <p:nvPr>
            <p:extLst>
              <p:ext uri="{D42A27DB-BD31-4B8C-83A1-F6EECF244321}">
                <p14:modId xmlns:p14="http://schemas.microsoft.com/office/powerpoint/2010/main" val="531410328"/>
              </p:ext>
            </p:extLst>
          </p:nvPr>
        </p:nvGraphicFramePr>
        <p:xfrm>
          <a:off x="411480" y="1967266"/>
          <a:ext cx="5730240" cy="37020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D81EE1CB-F9C4-71CC-C033-185F41C053F5}"/>
              </a:ext>
            </a:extLst>
          </p:cNvPr>
          <p:cNvGraphicFramePr>
            <a:graphicFrameLocks/>
          </p:cNvGraphicFramePr>
          <p:nvPr>
            <p:extLst>
              <p:ext uri="{D42A27DB-BD31-4B8C-83A1-F6EECF244321}">
                <p14:modId xmlns:p14="http://schemas.microsoft.com/office/powerpoint/2010/main" val="2985761452"/>
              </p:ext>
            </p:extLst>
          </p:nvPr>
        </p:nvGraphicFramePr>
        <p:xfrm>
          <a:off x="6278880" y="1814376"/>
          <a:ext cx="5349240" cy="323316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PRICING STRATEGY</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The £10–£15 Sweet Spot</a:t>
            </a:r>
            <a:endParaRPr lang="en-US" sz="3200" dirty="0"/>
          </a:p>
        </p:txBody>
      </p:sp>
      <p:sp>
        <p:nvSpPr>
          <p:cNvPr id="4" name="Shape 2"/>
          <p:cNvSpPr/>
          <p:nvPr/>
        </p:nvSpPr>
        <p:spPr>
          <a:xfrm>
            <a:off x="548640" y="1508760"/>
            <a:ext cx="6492240" cy="3977640"/>
          </a:xfrm>
          <a:prstGeom prst="roundRect">
            <a:avLst>
              <a:gd name="adj" fmla="val 2069"/>
            </a:avLst>
          </a:prstGeom>
          <a:solidFill>
            <a:srgbClr val="FFFFFF"/>
          </a:solidFill>
          <a:ln/>
          <a:effectLst>
            <a:outerShdw blurRad="127000" dist="38100" dir="5400000" algn="bl" rotWithShape="0">
              <a:srgbClr val="1B1F3B">
                <a:alpha val="18000"/>
              </a:srgbClr>
            </a:outerShdw>
          </a:effectLst>
        </p:spPr>
      </p:sp>
      <p:sp>
        <p:nvSpPr>
          <p:cNvPr id="6" name="Shape 3"/>
          <p:cNvSpPr/>
          <p:nvPr/>
        </p:nvSpPr>
        <p:spPr>
          <a:xfrm>
            <a:off x="7269480" y="1508760"/>
            <a:ext cx="4389120" cy="1874520"/>
          </a:xfrm>
          <a:prstGeom prst="roundRect">
            <a:avLst>
              <a:gd name="adj" fmla="val 4390"/>
            </a:avLst>
          </a:prstGeom>
          <a:solidFill>
            <a:srgbClr val="FFFFFF"/>
          </a:solidFill>
          <a:ln/>
          <a:effectLst>
            <a:outerShdw blurRad="127000" dist="38100" dir="5400000" algn="bl" rotWithShape="0">
              <a:srgbClr val="1B1F3B">
                <a:alpha val="18000"/>
              </a:srgbClr>
            </a:outerShdw>
          </a:effectLst>
        </p:spPr>
      </p:sp>
      <p:sp>
        <p:nvSpPr>
          <p:cNvPr id="7" name="Text 4"/>
          <p:cNvSpPr txBox="1"/>
          <p:nvPr/>
        </p:nvSpPr>
        <p:spPr>
          <a:xfrm>
            <a:off x="7498080" y="1645920"/>
            <a:ext cx="3931920" cy="822960"/>
          </a:xfrm>
          <a:prstGeom prst="rect">
            <a:avLst/>
          </a:prstGeom>
          <a:noFill/>
          <a:ln/>
        </p:spPr>
        <p:txBody>
          <a:bodyPr wrap="square" lIns="0" tIns="0" rIns="0" bIns="0" rtlCol="0" anchor="ctr"/>
          <a:lstStyle/>
          <a:p>
            <a:pPr marL="0" indent="0" algn="ctr">
              <a:buNone/>
            </a:pPr>
            <a:r>
              <a:rPr lang="en-US" sz="4000" b="1" dirty="0">
                <a:solidFill>
                  <a:srgbClr val="F96167"/>
                </a:solidFill>
                <a:latin typeface="Cambria" pitchFamily="34" charset="0"/>
                <a:ea typeface="Cambria" pitchFamily="34" charset="-122"/>
                <a:cs typeface="Cambria" pitchFamily="34" charset="-120"/>
              </a:rPr>
              <a:t>81%</a:t>
            </a:r>
            <a:endParaRPr lang="en-US" sz="4000" dirty="0"/>
          </a:p>
        </p:txBody>
      </p:sp>
      <p:sp>
        <p:nvSpPr>
          <p:cNvPr id="8" name="Text 5"/>
          <p:cNvSpPr txBox="1"/>
          <p:nvPr/>
        </p:nvSpPr>
        <p:spPr>
          <a:xfrm>
            <a:off x="7498080" y="2423160"/>
            <a:ext cx="3931920" cy="868680"/>
          </a:xfrm>
          <a:prstGeom prst="rect">
            <a:avLst/>
          </a:prstGeom>
          <a:noFill/>
          <a:ln/>
        </p:spPr>
        <p:txBody>
          <a:bodyPr wrap="square" lIns="0" tIns="0" rIns="0" bIns="0" rtlCol="0" anchor="ctr"/>
          <a:lstStyle/>
          <a:p>
            <a:pPr marL="0" indent="0" algn="ctr">
              <a:lnSpc>
                <a:spcPct val="120000"/>
              </a:lnSpc>
              <a:buNone/>
            </a:pPr>
            <a:r>
              <a:rPr lang="en-US" sz="1150" dirty="0">
                <a:solidFill>
                  <a:srgbClr val="6B7280"/>
                </a:solidFill>
                <a:latin typeface="Calibri" pitchFamily="34" charset="0"/>
                <a:ea typeface="Calibri" pitchFamily="34" charset="-122"/>
                <a:cs typeface="Calibri" pitchFamily="34" charset="-120"/>
              </a:rPr>
              <a:t>of total revenue (£50.7M) comes from the Standard-priced band — £10 to £15. Median product price sits at £11.94.</a:t>
            </a:r>
            <a:endParaRPr lang="en-US" sz="1150" dirty="0"/>
          </a:p>
        </p:txBody>
      </p:sp>
      <p:sp>
        <p:nvSpPr>
          <p:cNvPr id="9" name="Shape 6"/>
          <p:cNvSpPr/>
          <p:nvPr/>
        </p:nvSpPr>
        <p:spPr>
          <a:xfrm>
            <a:off x="7269480" y="3566160"/>
            <a:ext cx="4389120" cy="1920240"/>
          </a:xfrm>
          <a:prstGeom prst="roundRect">
            <a:avLst>
              <a:gd name="adj" fmla="val 4286"/>
            </a:avLst>
          </a:prstGeom>
          <a:solidFill>
            <a:srgbClr val="FFFFFF"/>
          </a:solidFill>
          <a:ln/>
          <a:effectLst>
            <a:outerShdw blurRad="127000" dist="38100" dir="5400000" algn="bl" rotWithShape="0">
              <a:srgbClr val="1B1F3B">
                <a:alpha val="18000"/>
              </a:srgbClr>
            </a:outerShdw>
          </a:effectLst>
        </p:spPr>
      </p:sp>
      <p:sp>
        <p:nvSpPr>
          <p:cNvPr id="11" name="Shape 7"/>
          <p:cNvSpPr/>
          <p:nvPr/>
        </p:nvSpPr>
        <p:spPr>
          <a:xfrm>
            <a:off x="548640" y="5669280"/>
            <a:ext cx="11109960" cy="566928"/>
          </a:xfrm>
          <a:prstGeom prst="roundRect">
            <a:avLst>
              <a:gd name="adj" fmla="val 12903"/>
            </a:avLst>
          </a:prstGeom>
          <a:solidFill>
            <a:srgbClr val="2F3C7E"/>
          </a:solidFill>
          <a:ln/>
        </p:spPr>
      </p:sp>
      <p:sp>
        <p:nvSpPr>
          <p:cNvPr id="12" name="Text 8"/>
          <p:cNvSpPr txBox="1"/>
          <p:nvPr/>
        </p:nvSpPr>
        <p:spPr>
          <a:xfrm>
            <a:off x="777240" y="5669280"/>
            <a:ext cx="10652760" cy="56692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Pricing outside the £10–£15 band barely moves revenue: a strong signal for where future SKUs should be priced.</a:t>
            </a:r>
            <a:endParaRPr lang="en-US" sz="1250" dirty="0"/>
          </a:p>
        </p:txBody>
      </p:sp>
      <p:sp>
        <p:nvSpPr>
          <p:cNvPr id="13" name="Text 9"/>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09</a:t>
            </a:r>
            <a:endParaRPr lang="en-US" sz="1000" dirty="0"/>
          </a:p>
        </p:txBody>
      </p:sp>
      <p:pic>
        <p:nvPicPr>
          <p:cNvPr id="17" name="Picture 16">
            <a:extLst>
              <a:ext uri="{FF2B5EF4-FFF2-40B4-BE49-F238E27FC236}">
                <a16:creationId xmlns:a16="http://schemas.microsoft.com/office/drawing/2014/main" id="{65090518-6EA3-9BF8-B50C-00508D465F92}"/>
              </a:ext>
            </a:extLst>
          </p:cNvPr>
          <p:cNvPicPr>
            <a:picLocks noChangeAspect="1"/>
          </p:cNvPicPr>
          <p:nvPr/>
        </p:nvPicPr>
        <p:blipFill>
          <a:blip r:embed="rId3"/>
          <a:stretch>
            <a:fillRect/>
          </a:stretch>
        </p:blipFill>
        <p:spPr>
          <a:xfrm>
            <a:off x="7303583" y="3775655"/>
            <a:ext cx="4320914" cy="1244401"/>
          </a:xfrm>
          <a:prstGeom prst="rect">
            <a:avLst/>
          </a:prstGeom>
        </p:spPr>
      </p:pic>
      <p:graphicFrame>
        <p:nvGraphicFramePr>
          <p:cNvPr id="5" name="Chart 4">
            <a:extLst>
              <a:ext uri="{FF2B5EF4-FFF2-40B4-BE49-F238E27FC236}">
                <a16:creationId xmlns:a16="http://schemas.microsoft.com/office/drawing/2014/main" id="{83528940-0EDC-EF22-2186-CC9D7BD55625}"/>
              </a:ext>
            </a:extLst>
          </p:cNvPr>
          <p:cNvGraphicFramePr>
            <a:graphicFrameLocks/>
          </p:cNvGraphicFramePr>
          <p:nvPr>
            <p:extLst>
              <p:ext uri="{D42A27DB-BD31-4B8C-83A1-F6EECF244321}">
                <p14:modId xmlns:p14="http://schemas.microsoft.com/office/powerpoint/2010/main" val="2179001035"/>
              </p:ext>
            </p:extLst>
          </p:nvPr>
        </p:nvGraphicFramePr>
        <p:xfrm>
          <a:off x="587097" y="1558834"/>
          <a:ext cx="6487886" cy="38404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GEOGRAPHY</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A UK Business, Mostly</a:t>
            </a:r>
            <a:endParaRPr lang="en-US" sz="3200" dirty="0"/>
          </a:p>
        </p:txBody>
      </p:sp>
      <p:sp>
        <p:nvSpPr>
          <p:cNvPr id="4" name="Shape 2"/>
          <p:cNvSpPr/>
          <p:nvPr/>
        </p:nvSpPr>
        <p:spPr>
          <a:xfrm>
            <a:off x="548640" y="1508760"/>
            <a:ext cx="5394960" cy="1874520"/>
          </a:xfrm>
          <a:prstGeom prst="roundRect">
            <a:avLst>
              <a:gd name="adj" fmla="val 4390"/>
            </a:avLst>
          </a:prstGeom>
          <a:solidFill>
            <a:srgbClr val="FFFFFF"/>
          </a:solidFill>
          <a:ln/>
          <a:effectLst>
            <a:outerShdw blurRad="127000" dist="38100" dir="5400000" algn="bl" rotWithShape="0">
              <a:srgbClr val="1B1F3B">
                <a:alpha val="18000"/>
              </a:srgbClr>
            </a:outerShdw>
          </a:effectLst>
        </p:spPr>
      </p:sp>
      <p:sp>
        <p:nvSpPr>
          <p:cNvPr id="6" name="Shape 3"/>
          <p:cNvSpPr/>
          <p:nvPr/>
        </p:nvSpPr>
        <p:spPr>
          <a:xfrm>
            <a:off x="6172200" y="1508760"/>
            <a:ext cx="5303520" cy="1874520"/>
          </a:xfrm>
          <a:prstGeom prst="roundRect">
            <a:avLst>
              <a:gd name="adj" fmla="val 4390"/>
            </a:avLst>
          </a:prstGeom>
          <a:solidFill>
            <a:srgbClr val="FFFFFF"/>
          </a:solidFill>
          <a:ln/>
          <a:effectLst>
            <a:outerShdw blurRad="127000" dist="38100" dir="5400000" algn="bl" rotWithShape="0">
              <a:srgbClr val="1B1F3B">
                <a:alpha val="18000"/>
              </a:srgbClr>
            </a:outerShdw>
          </a:effectLst>
        </p:spPr>
      </p:sp>
      <p:sp>
        <p:nvSpPr>
          <p:cNvPr id="7" name="Text 4"/>
          <p:cNvSpPr txBox="1"/>
          <p:nvPr/>
        </p:nvSpPr>
        <p:spPr>
          <a:xfrm>
            <a:off x="6400800" y="1600200"/>
            <a:ext cx="4846320" cy="640080"/>
          </a:xfrm>
          <a:prstGeom prst="rect">
            <a:avLst/>
          </a:prstGeom>
          <a:noFill/>
          <a:ln/>
        </p:spPr>
        <p:txBody>
          <a:bodyPr wrap="square" lIns="0" tIns="0" rIns="0" bIns="0" rtlCol="0" anchor="ctr"/>
          <a:lstStyle/>
          <a:p>
            <a:pPr marL="0" indent="0" algn="ctr">
              <a:buNone/>
            </a:pPr>
            <a:r>
              <a:rPr lang="en-US" sz="3200" b="1" dirty="0">
                <a:solidFill>
                  <a:srgbClr val="2F3C7E"/>
                </a:solidFill>
                <a:latin typeface="Cambria" pitchFamily="34" charset="0"/>
                <a:ea typeface="Cambria" pitchFamily="34" charset="-122"/>
                <a:cs typeface="Cambria" pitchFamily="34" charset="-120"/>
              </a:rPr>
              <a:t>95%</a:t>
            </a:r>
            <a:endParaRPr lang="en-US" sz="3200" dirty="0"/>
          </a:p>
        </p:txBody>
      </p:sp>
      <p:sp>
        <p:nvSpPr>
          <p:cNvPr id="8" name="Text 5"/>
          <p:cNvSpPr txBox="1"/>
          <p:nvPr/>
        </p:nvSpPr>
        <p:spPr>
          <a:xfrm>
            <a:off x="6400800" y="2212848"/>
            <a:ext cx="4846320" cy="1051560"/>
          </a:xfrm>
          <a:prstGeom prst="rect">
            <a:avLst/>
          </a:prstGeom>
          <a:noFill/>
          <a:ln/>
        </p:spPr>
        <p:txBody>
          <a:bodyPr wrap="square" lIns="0" tIns="0" rIns="0" bIns="0" rtlCol="0" anchor="ctr"/>
          <a:lstStyle/>
          <a:p>
            <a:pPr marL="0" indent="0" algn="ctr">
              <a:lnSpc>
                <a:spcPct val="125000"/>
              </a:lnSpc>
              <a:buNone/>
            </a:pPr>
            <a:r>
              <a:rPr lang="en-US" sz="1200" dirty="0">
                <a:solidFill>
                  <a:srgbClr val="6B7280"/>
                </a:solidFill>
                <a:latin typeface="Calibri" pitchFamily="34" charset="0"/>
                <a:ea typeface="Calibri" pitchFamily="34" charset="-122"/>
                <a:cs typeface="Calibri" pitchFamily="34" charset="-120"/>
              </a:rPr>
              <a:t>of customers and 85% of revenue (£51.7M) comes from the United Kingdom.</a:t>
            </a:r>
            <a:endParaRPr lang="en-US" sz="1200" dirty="0"/>
          </a:p>
        </p:txBody>
      </p:sp>
      <p:sp>
        <p:nvSpPr>
          <p:cNvPr id="9" name="Shape 6"/>
          <p:cNvSpPr/>
          <p:nvPr/>
        </p:nvSpPr>
        <p:spPr>
          <a:xfrm>
            <a:off x="548640" y="3566160"/>
            <a:ext cx="10927080" cy="1965960"/>
          </a:xfrm>
          <a:prstGeom prst="roundRect">
            <a:avLst>
              <a:gd name="adj" fmla="val 4186"/>
            </a:avLst>
          </a:prstGeom>
          <a:solidFill>
            <a:srgbClr val="FFFFFF"/>
          </a:solidFill>
          <a:ln/>
          <a:effectLst>
            <a:outerShdw blurRad="127000" dist="38100" dir="5400000" algn="bl" rotWithShape="0">
              <a:srgbClr val="1B1F3B">
                <a:alpha val="18000"/>
              </a:srgbClr>
            </a:outerShdw>
          </a:effectLst>
        </p:spPr>
      </p:sp>
      <p:sp>
        <p:nvSpPr>
          <p:cNvPr id="11" name="Shape 7"/>
          <p:cNvSpPr/>
          <p:nvPr/>
        </p:nvSpPr>
        <p:spPr>
          <a:xfrm>
            <a:off x="548640" y="5760720"/>
            <a:ext cx="10927080" cy="566928"/>
          </a:xfrm>
          <a:prstGeom prst="roundRect">
            <a:avLst>
              <a:gd name="adj" fmla="val 12903"/>
            </a:avLst>
          </a:prstGeom>
          <a:solidFill>
            <a:srgbClr val="F96167"/>
          </a:solidFill>
          <a:ln/>
        </p:spPr>
      </p:sp>
      <p:sp>
        <p:nvSpPr>
          <p:cNvPr id="12" name="Text 8"/>
          <p:cNvSpPr txBox="1"/>
          <p:nvPr/>
        </p:nvSpPr>
        <p:spPr>
          <a:xfrm>
            <a:off x="777240" y="5760720"/>
            <a:ext cx="10469880" cy="56692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Netherlands has the highest avg. revenue per customer outside the UK (£455): a small but efficient market worth a closer look.</a:t>
            </a:r>
            <a:endParaRPr lang="en-US" sz="1250" dirty="0"/>
          </a:p>
        </p:txBody>
      </p:sp>
      <p:sp>
        <p:nvSpPr>
          <p:cNvPr id="13" name="Text 9"/>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10</a:t>
            </a:r>
            <a:endParaRPr lang="en-US" sz="1000" dirty="0"/>
          </a:p>
        </p:txBody>
      </p:sp>
      <p:pic>
        <p:nvPicPr>
          <p:cNvPr id="15" name="Picture 14">
            <a:extLst>
              <a:ext uri="{FF2B5EF4-FFF2-40B4-BE49-F238E27FC236}">
                <a16:creationId xmlns:a16="http://schemas.microsoft.com/office/drawing/2014/main" id="{2B1C48BC-84C5-D955-E9A9-14CCDF9B92A4}"/>
              </a:ext>
            </a:extLst>
          </p:cNvPr>
          <p:cNvPicPr>
            <a:picLocks noChangeAspect="1"/>
          </p:cNvPicPr>
          <p:nvPr/>
        </p:nvPicPr>
        <p:blipFill>
          <a:blip r:embed="rId3"/>
          <a:stretch>
            <a:fillRect/>
          </a:stretch>
        </p:blipFill>
        <p:spPr>
          <a:xfrm>
            <a:off x="1272385" y="1825024"/>
            <a:ext cx="3954037" cy="1247303"/>
          </a:xfrm>
          <a:prstGeom prst="rect">
            <a:avLst/>
          </a:prstGeom>
        </p:spPr>
      </p:pic>
      <p:pic>
        <p:nvPicPr>
          <p:cNvPr id="17" name="Picture 16">
            <a:extLst>
              <a:ext uri="{FF2B5EF4-FFF2-40B4-BE49-F238E27FC236}">
                <a16:creationId xmlns:a16="http://schemas.microsoft.com/office/drawing/2014/main" id="{BC458250-8049-5605-4263-D8FD2AA3C346}"/>
              </a:ext>
            </a:extLst>
          </p:cNvPr>
          <p:cNvPicPr>
            <a:picLocks noChangeAspect="1"/>
          </p:cNvPicPr>
          <p:nvPr/>
        </p:nvPicPr>
        <p:blipFill>
          <a:blip r:embed="rId4"/>
          <a:stretch>
            <a:fillRect/>
          </a:stretch>
        </p:blipFill>
        <p:spPr>
          <a:xfrm>
            <a:off x="3277496" y="3565974"/>
            <a:ext cx="5516880" cy="19861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6167"/>
                </a:solidFill>
                <a:latin typeface="Calibri" pitchFamily="34" charset="0"/>
                <a:ea typeface="Calibri" pitchFamily="34" charset="-122"/>
                <a:cs typeface="Calibri" pitchFamily="34" charset="-120"/>
              </a:rPr>
              <a:t>RETENTION</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200" b="1" dirty="0">
                <a:solidFill>
                  <a:srgbClr val="23263B"/>
                </a:solidFill>
                <a:latin typeface="Cambria" pitchFamily="34" charset="0"/>
                <a:ea typeface="Cambria" pitchFamily="34" charset="-122"/>
                <a:cs typeface="Cambria" pitchFamily="34" charset="-120"/>
              </a:rPr>
              <a:t>A Remarkably Sticky Customer Base</a:t>
            </a:r>
            <a:endParaRPr lang="en-US" sz="3200" dirty="0"/>
          </a:p>
        </p:txBody>
      </p:sp>
      <p:sp>
        <p:nvSpPr>
          <p:cNvPr id="4" name="Shape 2"/>
          <p:cNvSpPr/>
          <p:nvPr/>
        </p:nvSpPr>
        <p:spPr>
          <a:xfrm>
            <a:off x="548640" y="1600200"/>
            <a:ext cx="4206240" cy="4343400"/>
          </a:xfrm>
          <a:prstGeom prst="roundRect">
            <a:avLst>
              <a:gd name="adj" fmla="val 1957"/>
            </a:avLst>
          </a:prstGeom>
          <a:solidFill>
            <a:srgbClr val="FFFFFF"/>
          </a:solidFill>
          <a:ln/>
          <a:effectLst>
            <a:outerShdw blurRad="127000" dist="38100" dir="5400000" algn="bl" rotWithShape="0">
              <a:srgbClr val="1B1F3B">
                <a:alpha val="18000"/>
              </a:srgbClr>
            </a:outerShdw>
          </a:effectLst>
        </p:spPr>
      </p:sp>
      <p:sp>
        <p:nvSpPr>
          <p:cNvPr id="5" name="Text 3"/>
          <p:cNvSpPr txBox="1"/>
          <p:nvPr/>
        </p:nvSpPr>
        <p:spPr>
          <a:xfrm>
            <a:off x="822960" y="1965960"/>
            <a:ext cx="3657600" cy="1097280"/>
          </a:xfrm>
          <a:prstGeom prst="rect">
            <a:avLst/>
          </a:prstGeom>
          <a:noFill/>
          <a:ln/>
        </p:spPr>
        <p:txBody>
          <a:bodyPr wrap="square" lIns="0" tIns="0" rIns="0" bIns="0" rtlCol="0" anchor="ctr"/>
          <a:lstStyle/>
          <a:p>
            <a:pPr marL="0" indent="0" algn="ctr">
              <a:buNone/>
            </a:pPr>
            <a:r>
              <a:rPr lang="en-US" sz="5600" b="1" dirty="0">
                <a:solidFill>
                  <a:srgbClr val="3FA7A0"/>
                </a:solidFill>
                <a:latin typeface="Cambria" pitchFamily="34" charset="0"/>
                <a:ea typeface="Cambria" pitchFamily="34" charset="-122"/>
                <a:cs typeface="Cambria" pitchFamily="34" charset="-120"/>
              </a:rPr>
              <a:t>98%</a:t>
            </a:r>
            <a:endParaRPr lang="en-US" sz="5600" dirty="0"/>
          </a:p>
        </p:txBody>
      </p:sp>
      <p:sp>
        <p:nvSpPr>
          <p:cNvPr id="6" name="Text 4"/>
          <p:cNvSpPr txBox="1"/>
          <p:nvPr/>
        </p:nvSpPr>
        <p:spPr>
          <a:xfrm>
            <a:off x="822960" y="3063240"/>
            <a:ext cx="3657600" cy="320040"/>
          </a:xfrm>
          <a:prstGeom prst="rect">
            <a:avLst/>
          </a:prstGeom>
          <a:noFill/>
          <a:ln/>
        </p:spPr>
        <p:txBody>
          <a:bodyPr wrap="square" lIns="0" tIns="0" rIns="0" bIns="0" rtlCol="0" anchor="ctr"/>
          <a:lstStyle/>
          <a:p>
            <a:pPr marL="0" indent="0" algn="ctr">
              <a:buNone/>
            </a:pPr>
            <a:r>
              <a:rPr lang="en-US" sz="1200" b="1" kern="0" spc="150" dirty="0">
                <a:solidFill>
                  <a:srgbClr val="2F3C7E"/>
                </a:solidFill>
                <a:latin typeface="Calibri" pitchFamily="34" charset="0"/>
                <a:ea typeface="Calibri" pitchFamily="34" charset="-122"/>
                <a:cs typeface="Calibri" pitchFamily="34" charset="-120"/>
              </a:rPr>
              <a:t>REPEAT-PURCHASE RATE</a:t>
            </a:r>
            <a:endParaRPr lang="en-US" sz="1200" dirty="0"/>
          </a:p>
        </p:txBody>
      </p:sp>
      <p:sp>
        <p:nvSpPr>
          <p:cNvPr id="7" name="Text 5"/>
          <p:cNvSpPr txBox="1"/>
          <p:nvPr/>
        </p:nvSpPr>
        <p:spPr>
          <a:xfrm>
            <a:off x="822960" y="3566160"/>
            <a:ext cx="3611880" cy="2103120"/>
          </a:xfrm>
          <a:prstGeom prst="rect">
            <a:avLst/>
          </a:prstGeom>
          <a:noFill/>
          <a:ln/>
        </p:spPr>
        <p:txBody>
          <a:bodyPr wrap="square" lIns="0" tIns="0" rIns="0" bIns="0" rtlCol="0" anchor="ctr"/>
          <a:lstStyle/>
          <a:p>
            <a:pPr marL="0" indent="0" algn="ctr">
              <a:lnSpc>
                <a:spcPct val="130000"/>
              </a:lnSpc>
              <a:buNone/>
            </a:pPr>
            <a:r>
              <a:rPr lang="en-US" sz="1250" dirty="0">
                <a:solidFill>
                  <a:srgbClr val="23263B"/>
                </a:solidFill>
                <a:latin typeface="Calibri" pitchFamily="34" charset="0"/>
                <a:ea typeface="Calibri" pitchFamily="34" charset="-122"/>
                <a:cs typeface="Calibri" pitchFamily="34" charset="-120"/>
              </a:rPr>
              <a:t>Only 102 of 4,738 customers (2%) are one-time buyers. Once someone converts, they almost always come back and retention is clearly this business's strength.</a:t>
            </a:r>
            <a:endParaRPr lang="en-US" sz="1250" dirty="0"/>
          </a:p>
        </p:txBody>
      </p:sp>
      <p:sp>
        <p:nvSpPr>
          <p:cNvPr id="8" name="Shape 6"/>
          <p:cNvSpPr/>
          <p:nvPr/>
        </p:nvSpPr>
        <p:spPr>
          <a:xfrm>
            <a:off x="5074920" y="1600200"/>
            <a:ext cx="6583680" cy="1691640"/>
          </a:xfrm>
          <a:prstGeom prst="roundRect">
            <a:avLst>
              <a:gd name="adj" fmla="val 4865"/>
            </a:avLst>
          </a:prstGeom>
          <a:solidFill>
            <a:srgbClr val="FFFFFF"/>
          </a:solidFill>
          <a:ln/>
          <a:effectLst>
            <a:outerShdw blurRad="127000" dist="38100" dir="5400000" algn="bl" rotWithShape="0">
              <a:srgbClr val="1B1F3B">
                <a:alpha val="18000"/>
              </a:srgbClr>
            </a:outerShdw>
          </a:effectLst>
        </p:spPr>
      </p:sp>
      <p:sp>
        <p:nvSpPr>
          <p:cNvPr id="10" name="Shape 7"/>
          <p:cNvSpPr/>
          <p:nvPr/>
        </p:nvSpPr>
        <p:spPr>
          <a:xfrm>
            <a:off x="5074920" y="3520440"/>
            <a:ext cx="6583680" cy="566928"/>
          </a:xfrm>
          <a:prstGeom prst="roundRect">
            <a:avLst>
              <a:gd name="adj" fmla="val 12903"/>
            </a:avLst>
          </a:prstGeom>
          <a:solidFill>
            <a:srgbClr val="2F3C7E"/>
          </a:solidFill>
          <a:ln/>
        </p:spPr>
      </p:sp>
      <p:sp>
        <p:nvSpPr>
          <p:cNvPr id="11" name="Text 8"/>
          <p:cNvSpPr txBox="1"/>
          <p:nvPr/>
        </p:nvSpPr>
        <p:spPr>
          <a:xfrm>
            <a:off x="5303520" y="3520440"/>
            <a:ext cx="6126480" cy="56692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The flip side: with so few first-time buyers, top-of-funnel acquisition looks thin which raises a natural next question for this dataset.</a:t>
            </a:r>
            <a:endParaRPr lang="en-US" sz="1250" dirty="0"/>
          </a:p>
        </p:txBody>
      </p:sp>
      <p:sp>
        <p:nvSpPr>
          <p:cNvPr id="12" name="Text 9"/>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A3A8BF"/>
                </a:solidFill>
                <a:latin typeface="Calibri" pitchFamily="34" charset="0"/>
                <a:ea typeface="Calibri" pitchFamily="34" charset="-122"/>
                <a:cs typeface="Calibri" pitchFamily="34" charset="-120"/>
              </a:rPr>
              <a:t>11</a:t>
            </a:r>
            <a:endParaRPr lang="en-US" sz="1000" dirty="0"/>
          </a:p>
        </p:txBody>
      </p:sp>
      <p:pic>
        <p:nvPicPr>
          <p:cNvPr id="14" name="Picture 13">
            <a:extLst>
              <a:ext uri="{FF2B5EF4-FFF2-40B4-BE49-F238E27FC236}">
                <a16:creationId xmlns:a16="http://schemas.microsoft.com/office/drawing/2014/main" id="{D51ABDDC-5136-E3B5-57DF-95F1E730D431}"/>
              </a:ext>
            </a:extLst>
          </p:cNvPr>
          <p:cNvPicPr>
            <a:picLocks noChangeAspect="1"/>
          </p:cNvPicPr>
          <p:nvPr/>
        </p:nvPicPr>
        <p:blipFill>
          <a:blip r:embed="rId3"/>
          <a:stretch>
            <a:fillRect/>
          </a:stretch>
        </p:blipFill>
        <p:spPr>
          <a:xfrm>
            <a:off x="5497384" y="1949824"/>
            <a:ext cx="5839507" cy="78441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0285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E795"/>
                </a:solidFill>
                <a:latin typeface="Calibri" pitchFamily="34" charset="0"/>
                <a:ea typeface="Calibri" pitchFamily="34" charset="-122"/>
                <a:cs typeface="Calibri" pitchFamily="34" charset="-120"/>
              </a:rPr>
              <a:t>HOW THE SEGMENTS ARE BUILT</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Behind the Scenes: RFM Logic (IFS)</a:t>
            </a:r>
            <a:endParaRPr lang="en-US" sz="3000" dirty="0"/>
          </a:p>
        </p:txBody>
      </p:sp>
      <p:sp>
        <p:nvSpPr>
          <p:cNvPr id="4" name="Text 2"/>
          <p:cNvSpPr txBox="1"/>
          <p:nvPr/>
        </p:nvSpPr>
        <p:spPr>
          <a:xfrm>
            <a:off x="548640" y="1600200"/>
            <a:ext cx="5029200" cy="4297680"/>
          </a:xfrm>
          <a:prstGeom prst="rect">
            <a:avLst/>
          </a:prstGeom>
          <a:noFill/>
          <a:ln/>
        </p:spPr>
        <p:txBody>
          <a:bodyPr wrap="square" lIns="0" tIns="0" rIns="0" bIns="0" rtlCol="0" anchor="ctr"/>
          <a:lstStyle/>
          <a:p>
            <a:pPr marL="0" indent="0">
              <a:lnSpc>
                <a:spcPct val="135000"/>
              </a:lnSpc>
              <a:buNone/>
            </a:pPr>
            <a:r>
              <a:rPr lang="en-US" sz="1300" b="1" dirty="0">
                <a:solidFill>
                  <a:srgbClr val="F9E795"/>
                </a:solidFill>
                <a:latin typeface="Calibri" pitchFamily="34" charset="0"/>
                <a:ea typeface="Calibri" pitchFamily="34" charset="-122"/>
                <a:cs typeface="Calibri" pitchFamily="34" charset="-120"/>
              </a:rPr>
              <a:t>1. Score  </a:t>
            </a:r>
            <a:r>
              <a:rPr lang="en-US" sz="1300" dirty="0">
                <a:solidFill>
                  <a:srgbClr val="C7CBEA"/>
                </a:solidFill>
                <a:latin typeface="Calibri" pitchFamily="34" charset="0"/>
                <a:ea typeface="Calibri" pitchFamily="34" charset="-122"/>
                <a:cs typeface="Calibri" pitchFamily="34" charset="-120"/>
              </a:rPr>
              <a:t>Recency, Frequency and Monetary are each converted to a 0–10 score using PERCENTRANK.EXC against the full customer base.
</a:t>
            </a:r>
            <a:r>
              <a:rPr lang="en-US" sz="1300" b="1" dirty="0">
                <a:solidFill>
                  <a:srgbClr val="F9E795"/>
                </a:solidFill>
                <a:latin typeface="Calibri" pitchFamily="34" charset="0"/>
                <a:ea typeface="Calibri" pitchFamily="34" charset="-122"/>
                <a:cs typeface="Calibri" pitchFamily="34" charset="-120"/>
              </a:rPr>
              <a:t>2. Classify  </a:t>
            </a:r>
            <a:r>
              <a:rPr lang="en-US" sz="1300" dirty="0">
                <a:solidFill>
                  <a:srgbClr val="C7CBEA"/>
                </a:solidFill>
                <a:latin typeface="Calibri" pitchFamily="34" charset="0"/>
                <a:ea typeface="Calibri" pitchFamily="34" charset="-122"/>
                <a:cs typeface="Calibri" pitchFamily="34" charset="-120"/>
              </a:rPr>
              <a:t>A nested IFS() formula reads the three scores in order and assigns the first matching segment which are Champions, Loyal, Potential, or At Risk.
</a:t>
            </a:r>
            <a:r>
              <a:rPr lang="en-US" sz="1300" b="1" dirty="0">
                <a:solidFill>
                  <a:srgbClr val="F9E795"/>
                </a:solidFill>
                <a:latin typeface="Calibri" pitchFamily="34" charset="0"/>
                <a:ea typeface="Calibri" pitchFamily="34" charset="-122"/>
                <a:cs typeface="Calibri" pitchFamily="34" charset="-120"/>
              </a:rPr>
              <a:t>3. Fall through  </a:t>
            </a:r>
            <a:r>
              <a:rPr lang="en-US" sz="1300" dirty="0">
                <a:solidFill>
                  <a:srgbClr val="C7CBEA"/>
                </a:solidFill>
                <a:latin typeface="Calibri" pitchFamily="34" charset="0"/>
                <a:ea typeface="Calibri" pitchFamily="34" charset="-122"/>
                <a:cs typeface="Calibri" pitchFamily="34" charset="-120"/>
              </a:rPr>
              <a:t>Anyone who doesn't clear a segment's thresholds is labeled Not Segmented as the long tail seen on slide 6.</a:t>
            </a:r>
            <a:endParaRPr lang="en-US" sz="1300" dirty="0"/>
          </a:p>
        </p:txBody>
      </p:sp>
      <p:sp>
        <p:nvSpPr>
          <p:cNvPr id="5" name="Shape 3"/>
          <p:cNvSpPr/>
          <p:nvPr/>
        </p:nvSpPr>
        <p:spPr>
          <a:xfrm>
            <a:off x="5989320" y="1600200"/>
            <a:ext cx="5669280" cy="4434840"/>
          </a:xfrm>
          <a:prstGeom prst="roundRect">
            <a:avLst>
              <a:gd name="adj" fmla="val 1856"/>
            </a:avLst>
          </a:prstGeom>
          <a:solidFill>
            <a:srgbClr val="283066"/>
          </a:solidFill>
          <a:ln w="19050">
            <a:prstDash val="solid"/>
          </a:ln>
        </p:spPr>
      </p:sp>
      <p:sp>
        <p:nvSpPr>
          <p:cNvPr id="6" name="Text 4"/>
          <p:cNvSpPr txBox="1"/>
          <p:nvPr/>
        </p:nvSpPr>
        <p:spPr>
          <a:xfrm>
            <a:off x="6263640" y="3566160"/>
            <a:ext cx="5120640" cy="548640"/>
          </a:xfrm>
          <a:prstGeom prst="rect">
            <a:avLst/>
          </a:prstGeom>
          <a:noFill/>
          <a:ln/>
        </p:spPr>
        <p:txBody>
          <a:bodyPr wrap="square" lIns="0" tIns="0" rIns="0" bIns="0" rtlCol="0" anchor="ctr"/>
          <a:lstStyle/>
          <a:p>
            <a:pPr marL="0" indent="0" algn="ctr">
              <a:buNone/>
            </a:pPr>
            <a:endParaRPr lang="en-US" sz="1300" dirty="0"/>
          </a:p>
        </p:txBody>
      </p:sp>
      <p:sp>
        <p:nvSpPr>
          <p:cNvPr id="7" name="Text 5"/>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8891C4"/>
                </a:solidFill>
                <a:latin typeface="Calibri" pitchFamily="34" charset="0"/>
                <a:ea typeface="Calibri" pitchFamily="34" charset="-122"/>
                <a:cs typeface="Calibri" pitchFamily="34" charset="-120"/>
              </a:rPr>
              <a:t>12</a:t>
            </a:r>
            <a:endParaRPr lang="en-US" sz="1000" dirty="0"/>
          </a:p>
        </p:txBody>
      </p:sp>
      <p:pic>
        <p:nvPicPr>
          <p:cNvPr id="11" name="Picture 10">
            <a:extLst>
              <a:ext uri="{FF2B5EF4-FFF2-40B4-BE49-F238E27FC236}">
                <a16:creationId xmlns:a16="http://schemas.microsoft.com/office/drawing/2014/main" id="{6B922E24-C6B6-D147-AF53-0304B16A94C9}"/>
              </a:ext>
            </a:extLst>
          </p:cNvPr>
          <p:cNvPicPr>
            <a:picLocks noChangeAspect="1"/>
          </p:cNvPicPr>
          <p:nvPr/>
        </p:nvPicPr>
        <p:blipFill>
          <a:blip r:embed="rId3"/>
          <a:stretch>
            <a:fillRect/>
          </a:stretch>
        </p:blipFill>
        <p:spPr>
          <a:xfrm>
            <a:off x="6167952" y="4407408"/>
            <a:ext cx="5312016" cy="1375467"/>
          </a:xfrm>
          <a:prstGeom prst="rect">
            <a:avLst/>
          </a:prstGeom>
        </p:spPr>
      </p:pic>
      <p:pic>
        <p:nvPicPr>
          <p:cNvPr id="15" name="Picture 14">
            <a:extLst>
              <a:ext uri="{FF2B5EF4-FFF2-40B4-BE49-F238E27FC236}">
                <a16:creationId xmlns:a16="http://schemas.microsoft.com/office/drawing/2014/main" id="{E529D4F0-DF89-7A5C-2372-D1D15C00E338}"/>
              </a:ext>
            </a:extLst>
          </p:cNvPr>
          <p:cNvPicPr>
            <a:picLocks noChangeAspect="1"/>
          </p:cNvPicPr>
          <p:nvPr/>
        </p:nvPicPr>
        <p:blipFill>
          <a:blip r:embed="rId4"/>
          <a:stretch>
            <a:fillRect/>
          </a:stretch>
        </p:blipFill>
        <p:spPr>
          <a:xfrm>
            <a:off x="6239943" y="1943416"/>
            <a:ext cx="5144337" cy="18307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0285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F9E795"/>
                </a:solidFill>
                <a:latin typeface="Calibri" pitchFamily="34" charset="0"/>
                <a:ea typeface="Calibri" pitchFamily="34" charset="-122"/>
                <a:cs typeface="Calibri" pitchFamily="34" charset="-120"/>
              </a:rPr>
              <a:t>HOW THE SHEETS CONNECT</a:t>
            </a:r>
            <a:endParaRPr lang="en-US" sz="1200" dirty="0"/>
          </a:p>
        </p:txBody>
      </p:sp>
      <p:sp>
        <p:nvSpPr>
          <p:cNvPr id="3" name="Text 1"/>
          <p:cNvSpPr txBox="1"/>
          <p:nvPr/>
        </p:nvSpPr>
        <p:spPr>
          <a:xfrm>
            <a:off x="548640" y="621792"/>
            <a:ext cx="105156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Behind the Scenes: Data Model</a:t>
            </a:r>
            <a:endParaRPr lang="en-US" sz="3000" dirty="0"/>
          </a:p>
        </p:txBody>
      </p:sp>
      <p:sp>
        <p:nvSpPr>
          <p:cNvPr id="4" name="Text 2"/>
          <p:cNvSpPr txBox="1"/>
          <p:nvPr/>
        </p:nvSpPr>
        <p:spPr>
          <a:xfrm>
            <a:off x="548640" y="1600200"/>
            <a:ext cx="5029200" cy="1965960"/>
          </a:xfrm>
          <a:prstGeom prst="rect">
            <a:avLst/>
          </a:prstGeom>
          <a:noFill/>
          <a:ln/>
        </p:spPr>
        <p:txBody>
          <a:bodyPr wrap="square" lIns="0" tIns="0" rIns="0" bIns="0" rtlCol="0" anchor="ctr"/>
          <a:lstStyle/>
          <a:p>
            <a:pPr marL="0" indent="0" algn="ctr">
              <a:lnSpc>
                <a:spcPct val="135000"/>
              </a:lnSpc>
              <a:buNone/>
            </a:pPr>
            <a:r>
              <a:rPr lang="en-US" sz="1400" dirty="0">
                <a:solidFill>
                  <a:srgbClr val="C7CBEA"/>
                </a:solidFill>
                <a:latin typeface="Calibri" pitchFamily="34" charset="0"/>
                <a:ea typeface="Calibri" pitchFamily="34" charset="-122"/>
                <a:cs typeface="Calibri" pitchFamily="34" charset="-120"/>
              </a:rPr>
              <a:t>Raw sales, customers and products tables are linked by customer and product IDs, then rolled up into the analysis sheets behind every slide in this deck that calculates segmentation, product, price, country and trend. Using Power Pivot, the model and customized measures like AOV,  Average Quantity Sold, etc. are also created.  </a:t>
            </a:r>
            <a:endParaRPr lang="en-US" sz="1400" dirty="0"/>
          </a:p>
        </p:txBody>
      </p:sp>
      <p:sp>
        <p:nvSpPr>
          <p:cNvPr id="5" name="Shape 3"/>
          <p:cNvSpPr/>
          <p:nvPr/>
        </p:nvSpPr>
        <p:spPr>
          <a:xfrm>
            <a:off x="5989320" y="1600200"/>
            <a:ext cx="5669280" cy="4434840"/>
          </a:xfrm>
          <a:prstGeom prst="roundRect">
            <a:avLst>
              <a:gd name="adj" fmla="val 1856"/>
            </a:avLst>
          </a:prstGeom>
          <a:solidFill>
            <a:srgbClr val="283066"/>
          </a:solidFill>
          <a:ln w="19050">
            <a:prstDash val="solid"/>
          </a:ln>
        </p:spPr>
      </p:sp>
      <p:sp>
        <p:nvSpPr>
          <p:cNvPr id="6" name="Text 4"/>
          <p:cNvSpPr txBox="1"/>
          <p:nvPr/>
        </p:nvSpPr>
        <p:spPr>
          <a:xfrm>
            <a:off x="6263640" y="3566160"/>
            <a:ext cx="5120640" cy="548640"/>
          </a:xfrm>
          <a:prstGeom prst="rect">
            <a:avLst/>
          </a:prstGeom>
          <a:noFill/>
          <a:ln/>
        </p:spPr>
        <p:txBody>
          <a:bodyPr wrap="square" lIns="0" tIns="0" rIns="0" bIns="0" rtlCol="0" anchor="ctr"/>
          <a:lstStyle/>
          <a:p>
            <a:pPr marL="0" indent="0" algn="ctr">
              <a:buNone/>
            </a:pPr>
            <a:r>
              <a:rPr lang="en-US" sz="1300" i="1" dirty="0">
                <a:solidFill>
                  <a:srgbClr val="8891C4"/>
                </a:solidFill>
                <a:latin typeface="Calibri" pitchFamily="34" charset="0"/>
                <a:ea typeface="Calibri" pitchFamily="34" charset="-122"/>
                <a:cs typeface="Calibri" pitchFamily="34" charset="-120"/>
              </a:rPr>
              <a:t>[ Insert data model screenshot here ]</a:t>
            </a:r>
            <a:endParaRPr lang="en-US" sz="1300" dirty="0"/>
          </a:p>
        </p:txBody>
      </p:sp>
      <p:sp>
        <p:nvSpPr>
          <p:cNvPr id="7" name="Text 5"/>
          <p:cNvSpPr txBox="1"/>
          <p:nvPr/>
        </p:nvSpPr>
        <p:spPr>
          <a:xfrm>
            <a:off x="11277295" y="6355080"/>
            <a:ext cx="548640" cy="320040"/>
          </a:xfrm>
          <a:prstGeom prst="rect">
            <a:avLst/>
          </a:prstGeom>
          <a:noFill/>
          <a:ln/>
        </p:spPr>
        <p:txBody>
          <a:bodyPr wrap="square" lIns="0" tIns="0" rIns="0" bIns="0" rtlCol="0" anchor="ctr"/>
          <a:lstStyle/>
          <a:p>
            <a:pPr marL="0" indent="0" algn="r">
              <a:buNone/>
            </a:pPr>
            <a:r>
              <a:rPr lang="en-US" sz="1000" dirty="0">
                <a:solidFill>
                  <a:srgbClr val="8891C4"/>
                </a:solidFill>
                <a:latin typeface="Calibri" pitchFamily="34" charset="0"/>
                <a:ea typeface="Calibri" pitchFamily="34" charset="-122"/>
                <a:cs typeface="Calibri" pitchFamily="34" charset="-120"/>
              </a:rPr>
              <a:t>13</a:t>
            </a:r>
            <a:endParaRPr lang="en-US" sz="1000" dirty="0"/>
          </a:p>
        </p:txBody>
      </p:sp>
      <p:pic>
        <p:nvPicPr>
          <p:cNvPr id="9" name="Picture 8">
            <a:extLst>
              <a:ext uri="{FF2B5EF4-FFF2-40B4-BE49-F238E27FC236}">
                <a16:creationId xmlns:a16="http://schemas.microsoft.com/office/drawing/2014/main" id="{8D328FF4-957C-EA81-325A-77180697A232}"/>
              </a:ext>
            </a:extLst>
          </p:cNvPr>
          <p:cNvPicPr>
            <a:picLocks noChangeAspect="1"/>
          </p:cNvPicPr>
          <p:nvPr/>
        </p:nvPicPr>
        <p:blipFill>
          <a:blip r:embed="rId3"/>
          <a:stretch>
            <a:fillRect/>
          </a:stretch>
        </p:blipFill>
        <p:spPr>
          <a:xfrm>
            <a:off x="6096000" y="1892451"/>
            <a:ext cx="5359630" cy="38270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0285C"/>
        </a:solidFill>
        <a:effectLst/>
      </p:bgPr>
    </p:bg>
    <p:spTree>
      <p:nvGrpSpPr>
        <p:cNvPr id="1" name=""/>
        <p:cNvGrpSpPr/>
        <p:nvPr/>
      </p:nvGrpSpPr>
      <p:grpSpPr>
        <a:xfrm>
          <a:off x="0" y="0"/>
          <a:ext cx="0" cy="0"/>
          <a:chOff x="0" y="0"/>
          <a:chExt cx="0" cy="0"/>
        </a:xfrm>
      </p:grpSpPr>
      <p:sp>
        <p:nvSpPr>
          <p:cNvPr id="2" name="Shape 0"/>
          <p:cNvSpPr/>
          <p:nvPr/>
        </p:nvSpPr>
        <p:spPr>
          <a:xfrm>
            <a:off x="-822960" y="5120640"/>
            <a:ext cx="2743200" cy="2743200"/>
          </a:xfrm>
          <a:prstGeom prst="ellipse">
            <a:avLst/>
          </a:prstGeom>
          <a:solidFill>
            <a:srgbClr val="273071"/>
          </a:solidFill>
          <a:ln/>
        </p:spPr>
      </p:sp>
      <p:sp>
        <p:nvSpPr>
          <p:cNvPr id="3" name="Text 1"/>
          <p:cNvSpPr txBox="1"/>
          <p:nvPr/>
        </p:nvSpPr>
        <p:spPr>
          <a:xfrm>
            <a:off x="822960" y="2468880"/>
            <a:ext cx="10515600" cy="100584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4" name="Text 2"/>
          <p:cNvSpPr txBox="1"/>
          <p:nvPr/>
        </p:nvSpPr>
        <p:spPr>
          <a:xfrm>
            <a:off x="1752600" y="3200400"/>
            <a:ext cx="8686800" cy="457200"/>
          </a:xfrm>
          <a:prstGeom prst="rect">
            <a:avLst/>
          </a:prstGeom>
          <a:noFill/>
          <a:ln/>
        </p:spPr>
        <p:txBody>
          <a:bodyPr wrap="square" lIns="0" tIns="0" rIns="0" bIns="0" rtlCol="0" anchor="ctr"/>
          <a:lstStyle/>
          <a:p>
            <a:pPr marL="0" indent="0" algn="ctr">
              <a:buNone/>
            </a:pPr>
            <a:r>
              <a:rPr lang="en-US" sz="1500" i="1" dirty="0">
                <a:solidFill>
                  <a:srgbClr val="F96167"/>
                </a:solidFill>
                <a:latin typeface="Calibri" pitchFamily="34" charset="0"/>
                <a:ea typeface="Calibri" pitchFamily="34" charset="-122"/>
                <a:cs typeface="Calibri" pitchFamily="34" charset="-120"/>
              </a:rPr>
              <a:t>Questions? Let's talk about what the data found and what to do next.</a:t>
            </a:r>
            <a:endParaRPr lang="en-US" sz="1500" dirty="0"/>
          </a:p>
        </p:txBody>
      </p:sp>
      <p:sp>
        <p:nvSpPr>
          <p:cNvPr id="5" name="Shape 3"/>
          <p:cNvSpPr/>
          <p:nvPr/>
        </p:nvSpPr>
        <p:spPr>
          <a:xfrm>
            <a:off x="868680" y="4206240"/>
            <a:ext cx="873252" cy="310896"/>
          </a:xfrm>
          <a:prstGeom prst="roundRect">
            <a:avLst>
              <a:gd name="adj" fmla="val 50000"/>
            </a:avLst>
          </a:prstGeom>
          <a:solidFill>
            <a:srgbClr val="F9E795"/>
          </a:solidFill>
          <a:ln/>
        </p:spPr>
      </p:sp>
      <p:sp>
        <p:nvSpPr>
          <p:cNvPr id="6" name="Text 4"/>
          <p:cNvSpPr txBox="1"/>
          <p:nvPr/>
        </p:nvSpPr>
        <p:spPr>
          <a:xfrm>
            <a:off x="882396" y="4206240"/>
            <a:ext cx="873252" cy="310896"/>
          </a:xfrm>
          <a:prstGeom prst="rect">
            <a:avLst/>
          </a:prstGeom>
          <a:noFill/>
          <a:ln/>
        </p:spPr>
        <p:txBody>
          <a:bodyPr wrap="square" lIns="0" tIns="0" rIns="0" bIns="0" rtlCol="0" anchor="ctr"/>
          <a:lstStyle/>
          <a:p>
            <a:pPr marL="0" indent="0" algn="ctr">
              <a:buNone/>
            </a:pPr>
            <a:r>
              <a:rPr lang="en-US" sz="1200" b="1" dirty="0">
                <a:solidFill>
                  <a:srgbClr val="2F3C7E"/>
                </a:solidFill>
                <a:latin typeface="Calibri" pitchFamily="34" charset="0"/>
                <a:ea typeface="Calibri" pitchFamily="34" charset="-122"/>
                <a:cs typeface="Calibri" pitchFamily="34" charset="-120"/>
              </a:rPr>
              <a:t>Champions</a:t>
            </a:r>
            <a:endParaRPr lang="en-US" sz="1200" dirty="0"/>
          </a:p>
        </p:txBody>
      </p:sp>
      <p:sp>
        <p:nvSpPr>
          <p:cNvPr id="7" name="Shape 5"/>
          <p:cNvSpPr/>
          <p:nvPr/>
        </p:nvSpPr>
        <p:spPr>
          <a:xfrm>
            <a:off x="1906524" y="4206240"/>
            <a:ext cx="562356" cy="310896"/>
          </a:xfrm>
          <a:prstGeom prst="roundRect">
            <a:avLst>
              <a:gd name="adj" fmla="val 50000"/>
            </a:avLst>
          </a:prstGeom>
          <a:solidFill>
            <a:srgbClr val="3FA7A0"/>
          </a:solidFill>
          <a:ln/>
        </p:spPr>
      </p:sp>
      <p:sp>
        <p:nvSpPr>
          <p:cNvPr id="8" name="Text 6"/>
          <p:cNvSpPr txBox="1"/>
          <p:nvPr/>
        </p:nvSpPr>
        <p:spPr>
          <a:xfrm>
            <a:off x="1920240" y="4206240"/>
            <a:ext cx="56235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Loyal</a:t>
            </a:r>
            <a:endParaRPr lang="en-US" sz="1200" dirty="0"/>
          </a:p>
        </p:txBody>
      </p:sp>
      <p:sp>
        <p:nvSpPr>
          <p:cNvPr id="9" name="Shape 7"/>
          <p:cNvSpPr/>
          <p:nvPr/>
        </p:nvSpPr>
        <p:spPr>
          <a:xfrm>
            <a:off x="2633472" y="4206240"/>
            <a:ext cx="873252" cy="310896"/>
          </a:xfrm>
          <a:prstGeom prst="roundRect">
            <a:avLst>
              <a:gd name="adj" fmla="val 50000"/>
            </a:avLst>
          </a:prstGeom>
          <a:solidFill>
            <a:srgbClr val="2F3C7E"/>
          </a:solidFill>
          <a:ln/>
        </p:spPr>
      </p:sp>
      <p:sp>
        <p:nvSpPr>
          <p:cNvPr id="10" name="Text 8"/>
          <p:cNvSpPr txBox="1"/>
          <p:nvPr/>
        </p:nvSpPr>
        <p:spPr>
          <a:xfrm>
            <a:off x="2633472" y="4206240"/>
            <a:ext cx="873252"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Potential</a:t>
            </a:r>
            <a:endParaRPr lang="en-US" sz="1200" dirty="0"/>
          </a:p>
        </p:txBody>
      </p:sp>
      <p:sp>
        <p:nvSpPr>
          <p:cNvPr id="11" name="Shape 9"/>
          <p:cNvSpPr/>
          <p:nvPr/>
        </p:nvSpPr>
        <p:spPr>
          <a:xfrm>
            <a:off x="3671316" y="4206240"/>
            <a:ext cx="717804" cy="310896"/>
          </a:xfrm>
          <a:prstGeom prst="roundRect">
            <a:avLst>
              <a:gd name="adj" fmla="val 50000"/>
            </a:avLst>
          </a:prstGeom>
          <a:solidFill>
            <a:srgbClr val="F96167"/>
          </a:solidFill>
          <a:ln/>
        </p:spPr>
      </p:sp>
      <p:sp>
        <p:nvSpPr>
          <p:cNvPr id="12" name="Text 10"/>
          <p:cNvSpPr txBox="1"/>
          <p:nvPr/>
        </p:nvSpPr>
        <p:spPr>
          <a:xfrm>
            <a:off x="3671316" y="4206240"/>
            <a:ext cx="717804"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Risk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TotalTime>
  <Words>1098</Words>
  <Application>Microsoft Office PowerPoint</Application>
  <PresentationFormat>Widescreen</PresentationFormat>
  <Paragraphs>136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Shubham Dhiman</cp:lastModifiedBy>
  <cp:revision>11</cp:revision>
  <dcterms:created xsi:type="dcterms:W3CDTF">2026-09-12T07:50:45Z</dcterms:created>
  <dcterms:modified xsi:type="dcterms:W3CDTF">2026-09-12T18:53:42Z</dcterms:modified>
</cp:coreProperties>
</file>